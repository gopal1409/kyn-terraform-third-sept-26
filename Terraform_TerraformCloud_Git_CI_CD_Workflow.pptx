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Terraform Workflow with Terraform Cloud &amp; Git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DCE6F5"/>
                </a:solidFill>
              </a:rPr>
              <a:t>AWS Infrastructure as Code • Remote State • VCS Integration • Automated Plan / Apply</a:t>
            </a:r>
          </a:p>
        </p:txBody>
      </p:sp>
      <p:pic>
        <p:nvPicPr>
          <p:cNvPr id="5" name="Picture 4" descr="a_wide_infographic_diagram_on_a_light_backgroun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63240"/>
            <a:ext cx="10835640" cy="3063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By the end, learners can explain and implement the complete Git → Terraform Cloud → AWS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2044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73152" cy="1874519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72184"/>
            <a:ext cx="3172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1. Terraform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47672"/>
            <a:ext cx="31546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Understand providers, resources, variables, locals, data sources, outputs and for_each.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874519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72184"/>
            <a:ext cx="3172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2. AWS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546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Understand VPC, public/private subnets, Internet Gateway, route tables and security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52044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1874519"/>
          </a:xfrm>
          <a:prstGeom prst="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472184"/>
            <a:ext cx="3172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28530"/>
                </a:solidFill>
              </a:rPr>
              <a:t>3. Compute &amp; Load Balancing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47672"/>
            <a:ext cx="31546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Deploy multiple EC2 instances with Nginx and distribute traffic through an Application Load Balancer.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352044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73152" cy="1874519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621024"/>
            <a:ext cx="3172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4. Remote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096511"/>
            <a:ext cx="31546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Use an S3 backend and native S3 lockfile-based state locking as shown in the supplied configuration.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474720"/>
            <a:ext cx="352044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474720"/>
            <a:ext cx="73152" cy="1874519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621024"/>
            <a:ext cx="3172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5. Terraform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096511"/>
            <a:ext cx="31546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Connect a VCS repository, manage workspaces/variables, review plans and control applies.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474720"/>
            <a:ext cx="352044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474720"/>
            <a:ext cx="73152" cy="1874519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3621024"/>
            <a:ext cx="3172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6. Git 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096511"/>
            <a:ext cx="31546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Use commits and pull requests to trigger automated validation and Terraform plans, followed by controlled apply.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The central idea: infrastructure changes become versioned, reviewable and repeatable.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828800" cy="100584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Developer
Terraform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920240"/>
            <a:ext cx="1828800" cy="100584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GitHub
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920240"/>
            <a:ext cx="2011680" cy="100584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Terraform Cloud
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920240"/>
            <a:ext cx="1645920" cy="1005840"/>
          </a:xfrm>
          <a:prstGeom prst="round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Terraform
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1920240"/>
            <a:ext cx="2011680" cy="1005840"/>
          </a:xfrm>
          <a:prstGeom prst="round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Policy / Approval
(optional)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3977639"/>
            <a:ext cx="2011680" cy="100584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Terraform Apply
→ AWS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2423160"/>
            <a:ext cx="4114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423160"/>
            <a:ext cx="4114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95160" y="2423160"/>
            <a:ext cx="45720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98280" y="2423160"/>
            <a:ext cx="36576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995160" y="2971800"/>
            <a:ext cx="3474720" cy="1005839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52578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1. Developer edits .tf files and tests locally.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2. Commit + push to Git; a pull request can trigger a speculative/preview plan.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3. Terraform Cloud receives the change and runs Terraform.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4. Plan shows what will be created, changed or destroyed.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5. Policy checks and human review can gate the apply.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6. Approved apply provisions/updates AWS and records the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Recommended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Map the supplied configuration into small, understandable Terraform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532120" cy="4892040"/>
          </a:xfrm>
          <a:prstGeom prst="roundRect">
            <a:avLst/>
          </a:prstGeom>
          <a:solidFill>
            <a:srgbClr val="1B2028"/>
          </a:solidFill>
          <a:ln>
            <a:solidFill>
              <a:srgbClr val="46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5257800" cy="46725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nsolas"/>
              </a:rPr>
              <a:t>terraform-project/
├── versions.tf       # required providers / versions
├── provider.tf       # AWS provider
├── backend.tf        # S3 backend + lockfile
├── variables.tf      # scalar variables
├── subnet.tf         # public subnet resources
├── db-subnet.tf      # private subnet resources
├── vpc.tf            # VPC
├── igw.tf             # Internet Gateway
├── route-table.tf    # route table + associations
├── security-group.tf # EC2 SG
├── alb-sg.tf         # ALB SG
├── alb.tf            # ALB
├── target-group.tf   # target group + attachments
├── instance.tf       # EC2 instances
├── data.tf           # Ubuntu AMI data source
├── locals.tf         # naming / common tags
├── outputs.tf        # IDs, IPs, ALB DNS
├── app.sh            # Nginx bootstrap
└── terraform.tfvars  # environment-specific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Keep reusable infrastructure definitions in .tf files; Terraform loads all .tf files in the working directory.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Use variables for values that should change by environment.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Use locals for naming/tagging expressions reused throughout the configuration.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Keep bootstrap logic such as app.sh separate from Terraform resource definitions.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Commit the whole configuration to Git so the repository becomes the source of truth.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Terraform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What each major Terraform construct is doing in the supplied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2578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89304"/>
            <a:ext cx="4910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terraform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4892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Declares required providers and, in backend.tf, remote state configuration.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2578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73152" cy="96012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289304"/>
            <a:ext cx="4910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764792"/>
            <a:ext cx="4892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Configures the AWS provider and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77440"/>
            <a:ext cx="52578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23744"/>
            <a:ext cx="4910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resource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999232"/>
            <a:ext cx="4892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Declares infrastructure Terraform should manage, e.g. aws_vpc, aws_subnet and aws_instance.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377440"/>
            <a:ext cx="52578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377440"/>
            <a:ext cx="73152" cy="96012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523744"/>
            <a:ext cx="4910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data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999232"/>
            <a:ext cx="4892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Reads existing information; the supplied aws_ami data source locates an Ubuntu image.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11880"/>
            <a:ext cx="52578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1188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758184"/>
            <a:ext cx="4910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variable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233672"/>
            <a:ext cx="4892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Defines inputs such as region, VPC CIDR, environment and instance map.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611880"/>
            <a:ext cx="52578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611880"/>
            <a:ext cx="73152" cy="96012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758184"/>
            <a:ext cx="4910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locals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233672"/>
            <a:ext cx="4892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Creates reusable expressions such as gopal-project-dev and common tags.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46320"/>
            <a:ext cx="52578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84632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992624"/>
            <a:ext cx="4910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for_each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468112"/>
            <a:ext cx="4892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Creates multiple resource instances from a map, preserving stable keys such as web1/web2.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846320"/>
            <a:ext cx="52578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846320"/>
            <a:ext cx="73152" cy="96012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992624"/>
            <a:ext cx="4910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5468112"/>
            <a:ext cx="4892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Publishes useful values such as VPC ID, subnet IDs, instance IPs and ALB DNS.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Map Variables + for_each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The supplied design uses maps of objects to avoid duplicating similar resource blocks.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486400" cy="4480560"/>
          </a:xfrm>
          <a:prstGeom prst="roundRect">
            <a:avLst/>
          </a:prstGeom>
          <a:solidFill>
            <a:srgbClr val="1B2028"/>
          </a:solidFill>
          <a:ln>
            <a:solidFill>
              <a:srgbClr val="46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52728"/>
            <a:ext cx="5212080" cy="4261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onsolas"/>
              </a:rPr>
              <a:t>variable "instance" {
  type = map(object({
    instance_type    = string
    availablity_zone = string
    subnet_key       = string
  }))
  default = {
    web1 = {
      instance_type    = "t2.micro"
      availablity_zone = "us-east-1a"
      subnet_key       = "subnet1"
    }
    web2 = {
      instance_type    = "t2.micro"
      availablity_zone = "us-east-1b"
      subnet_key       = "subnet2"
    }
  }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var.instance is a map. Each key identifies one EC2 instance.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for_each = var.instance creates aws_instance.web_vm["web1"] and ["web2"].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each.key is the instance name; each.value contains that instance's object.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subnet_id = aws_subnet.web_subnet[each.value.subnet_key].id connects the instance to the requested public subnet.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The same pattern is used for public and private subnet maps.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Benefit: add web3 by adding one map entry instead of copying another resource block.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AWS Infrastructure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Logical path of the supplied configuration.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143000"/>
            <a:ext cx="2011680" cy="594360"/>
          </a:xfrm>
          <a:prstGeom prst="round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874519"/>
            <a:ext cx="2560320" cy="59436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Internet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241280" cy="2926080"/>
          </a:xfrm>
          <a:prstGeom prst="roundRect">
            <a:avLst/>
          </a:prstGeom>
          <a:solidFill>
            <a:srgbClr val="F4F7FB"/>
          </a:solidFill>
          <a:ln>
            <a:solidFill>
              <a:srgbClr val="3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16305B"/>
                </a:solidFill>
              </a:defRPr>
            </a:pPr>
            <a:r>
              <a:t>VPC 10.0.0.0/16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520440"/>
            <a:ext cx="2423160" cy="1234440"/>
          </a:xfrm>
          <a:prstGeom prst="round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Public Subnet 1
10.0.1.0/24
EC2 web1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520440"/>
            <a:ext cx="2423160" cy="1234440"/>
          </a:xfrm>
          <a:prstGeom prst="round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Public Subnet 2
10.0.2.0/24
EC2 web2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3520440"/>
            <a:ext cx="2423160" cy="1234440"/>
          </a:xfrm>
          <a:prstGeom prst="round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Public Subnet 3
10.0.3.0/24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892040"/>
            <a:ext cx="2423160" cy="64008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Private Subnets
10.0.4.0/24
10.0.5.0/24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1737360"/>
            <a:ext cx="0" cy="137159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2468880"/>
            <a:ext cx="0" cy="27432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0" y="123444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Custom route table has 0.0.0.0/0 → Internet Gateway.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Public subnets are associated with that route table.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EC2 instances receive public IPs in the supplied configuration.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ALB spans the public subnets and forwards HTTP to the target group.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Networking: VPC, Subnets, Routes &amp; IGW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7432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82880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80744"/>
            <a:ext cx="2395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VPC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56232"/>
            <a:ext cx="23774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aws_vpc.web_vpc creates the isolated network using var.aws_vpc_cidr (10.0.0.0/16 in the supplied defaults).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7432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73152" cy="1828800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380744"/>
            <a:ext cx="2395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Public Subnets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1856232"/>
            <a:ext cx="23774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var.public_subnet is a map. for_each creates subnet1–subnet3 in us-east-1a/b/c with 10.0.1.0/24–10.0.3.0/24.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34440"/>
            <a:ext cx="27432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73152" cy="182880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380744"/>
            <a:ext cx="2395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Private Subnets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856232"/>
            <a:ext cx="23774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var.private_subnet creates subnet4 and subnet5 with private Type tags. The supplied configuration does not attach a NAT Gateway.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234440"/>
            <a:ext cx="233172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1234440"/>
            <a:ext cx="73152" cy="182880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1380744"/>
            <a:ext cx="19842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Internet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1856232"/>
            <a:ext cx="1965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aws_internet_gateway.igw attaches an IGW to the VPC. It provides a path for public IPv4 traffic when routing and public addressing are configured.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3474720"/>
            <a:ext cx="448056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3474720"/>
            <a:ext cx="73152" cy="1828800"/>
          </a:xfrm>
          <a:prstGeom prst="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621024"/>
            <a:ext cx="4133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28530"/>
                </a:solidFill>
              </a:rPr>
              <a:t>Custom Route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4096511"/>
            <a:ext cx="4114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0.0.0.0/0 points to the Internet Gateway. aws_route_table_association uses for_each to associate every public subnet.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448056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74720"/>
            <a:ext cx="73152" cy="182880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621024"/>
            <a:ext cx="41330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B74040"/>
                </a:solidFill>
              </a:rPr>
              <a:t>Important distinction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096511"/>
            <a:ext cx="4114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A subnet is not 'public' merely because it has a Type=public tag. Public routing plus public addressing/IGW path are what make Internet connectivity possible.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Security Groups &amp; Traffic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The supplied configuration defines separate SGs for the web instances and ALB.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120640" cy="3108960"/>
          </a:xfrm>
          <a:prstGeom prst="roundRect">
            <a:avLst/>
          </a:prstGeom>
          <a:solidFill>
            <a:srgbClr val="1B2028"/>
          </a:solidFill>
          <a:ln>
            <a:solidFill>
              <a:srgbClr val="46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4846320" cy="2889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nsolas"/>
              </a:rPr>
              <a:t>aws_security_group.web_sg
  inbound: 80, 443, 22 from 0.0.0.0/0 and ::/0
  outbound: all
aws_security_group.alb_sg
  inbound: 80, 443 from 0.0.0.0/0 and ::/0
  outbound: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2344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web_sg protects the EC2 instances.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alb_sg protects the public Application Load Balancer.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Port 80 is used by the HTTP listener and target group.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Port 443 is allowed in the supplied SGs, but the supplied ALB listener is HTTP-only; no HTTPS listener/certificate is configured.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Port 22 is open to the world in the supplied web_sg. For production, restrict SSH to a trusted source or use AWS Systems Manager instead.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Production hardening: allow EC2 port 80 only from the ALB security group rather than from the entire Internet.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Application Load Balancer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371600" cy="914400"/>
          </a:xfrm>
          <a:prstGeom prst="round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194560"/>
            <a:ext cx="1737360" cy="91440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ALB
Port 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194560"/>
            <a:ext cx="1737360" cy="91440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Listener
HTTP :80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194560"/>
            <a:ext cx="1828800" cy="914400"/>
          </a:xfrm>
          <a:prstGeom prst="round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Target Group
HTTP :80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600200"/>
            <a:ext cx="1554480" cy="822960"/>
          </a:xfrm>
          <a:prstGeom prst="round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EC2 web1
Nginx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2743200"/>
            <a:ext cx="1554480" cy="822960"/>
          </a:xfrm>
          <a:prstGeom prst="round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EC2 web2
Nginx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2651760"/>
            <a:ext cx="6400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80560" y="2651760"/>
            <a:ext cx="54864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66560" y="2651760"/>
            <a:ext cx="54864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144000" y="2011680"/>
            <a:ext cx="502920" cy="64008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2651760"/>
            <a:ext cx="502920" cy="50292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160520"/>
            <a:ext cx="10241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aws_lb creates an external Application Load Balancer using the public subnet IDs.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aws_lb_listener listens on HTTP port 80 and forwards to aws_lb_target_group.alb-tg.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The target group registers every aws_instance.web_vm instance using for_each.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Health checks use HTTP on the traffic port, with matcher 200.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output "alb_dns" exposes the ALB DNS name after apply.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EC2 Bootstrap with app.sh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Terraform passes the shell script as user_data; cloud-init executes it during instance initialization.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715000" cy="4983480"/>
          </a:xfrm>
          <a:prstGeom prst="roundRect">
            <a:avLst/>
          </a:prstGeom>
          <a:solidFill>
            <a:srgbClr val="1B2028"/>
          </a:solidFill>
          <a:ln>
            <a:solidFill>
              <a:srgbClr val="46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5440680" cy="4764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onsolas"/>
              </a:rPr>
              <a:t>#!/bin/bash
apt-get update -y
apt-get install nginx -y
HOSTNAME=$(hostname)
PRIVATE_IP=$(hostname -I | awk '{print $1}')
OS_NAME=$(lsb_release -ds)
cat &lt;&lt;EOF &gt; /var/www/html/index.html
&lt;h1&gt;Hello from Terraform!&lt;/h1&gt;
&lt;h2&gt;Ubuntu EC2 + Nginx&lt;/h2&gt;
&lt;p&gt;Hostname: $HOSTNAME&lt;/p&gt;
&lt;p&gt;Private IP: $PRIVATE_IP&lt;/p&gt;
&lt;p&gt;Operating System: $OS_NAME&lt;/p&gt;
&lt;p&gt;Web Server: Nginx&lt;/p&gt;
EOF
systemctl enable nginx
systemctl restart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user_data = file("${path.module}/app.sh") reads app.sh from the Terraform module directory.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apt-get update refreshes package metadata.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nginx is installed and enabled at boot.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Runtime values are captured from the instance itself and embedded in index.html.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Because each EC2 instance runs the same script, each server can display its own hostname and private IP.</a:t>
            </a:r>
          </a:p>
          <a:p>
            <a:pPr>
              <a:spcAft>
                <a:spcPts val="700"/>
              </a:spcAft>
              <a:defRPr sz="1400" b="0">
                <a:solidFill>
                  <a:srgbClr val="232B37"/>
                </a:solidFill>
              </a:defRPr>
            </a:pPr>
            <a:r>
              <a:t>Troubleshooting: inspect cloud-init logs on the instance if Nginx does not start.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Remote State: S3 + Lockfile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The supplied state configuration stores Terraform state remotely and enables native S3 lockfile-based locking.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20640" cy="2926080"/>
          </a:xfrm>
          <a:prstGeom prst="roundRect">
            <a:avLst/>
          </a:prstGeom>
          <a:solidFill>
            <a:srgbClr val="1B2028"/>
          </a:solidFill>
          <a:ln>
            <a:solidFill>
              <a:srgbClr val="46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7"/>
            <a:ext cx="4846320" cy="2706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onsolas"/>
              </a:rPr>
              <a:t>terraform {
  backend "s3" {
    bucket       = "terraform-state-gopal14"
    key          = "dev/gopal.tfstate"
    region       = "us-east-1"
    use_lockfile = true
    encrypt      = true
  }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40"/>
            <a:ext cx="246888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234440"/>
            <a:ext cx="73152" cy="150876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380744"/>
            <a:ext cx="2121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Bucket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1856232"/>
            <a:ext cx="21031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Stores the state object remotely rather than leaving terraform.tfstate only on a developer laptop.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234440"/>
            <a:ext cx="246888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1234440"/>
            <a:ext cx="73152" cy="150876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1380744"/>
            <a:ext cx="2121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1856232"/>
            <a:ext cx="21031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dev/gopal.tfstate identifies the state object path for this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063240"/>
            <a:ext cx="246888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3063240"/>
            <a:ext cx="73152" cy="1508760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3209544"/>
            <a:ext cx="2121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Encryption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3685032"/>
            <a:ext cx="21031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encrypt = true requests server-side encryption for the state object.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063240"/>
            <a:ext cx="246888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3063240"/>
            <a:ext cx="73152" cy="1508760"/>
          </a:xfrm>
          <a:prstGeom prst="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3209544"/>
            <a:ext cx="2121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28530"/>
                </a:solidFill>
              </a:rPr>
              <a:t>Locking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3685032"/>
            <a:ext cx="21031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use_lockfile = true enables S3 lockfile-based state locking. The supplied state JSON shows no DynamoDB table configured.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Why remote state? Multiple operators/runs need one authoritative state.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Why locking? Prevents concurrent Terraform operations from modifying the same state at the same time.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Protect the S3 bucket with least-privilege IAM, versioning, encryption and restricted access.</a:t>
            </a:r>
          </a:p>
          <a:p>
            <a:pPr>
              <a:spcAft>
                <a:spcPts val="700"/>
              </a:spcAft>
              <a:defRPr sz="1200" b="0">
                <a:solidFill>
                  <a:srgbClr val="232B37"/>
                </a:solidFill>
              </a:defRPr>
            </a:pPr>
            <a:r>
              <a:t>Do not commit state files or credentials to Git.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Terraform Cloud / HCP Terraform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Terraform Cloud can become the execution and collaboration layer around the Git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74320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73152" cy="160020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2395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VCS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56232"/>
            <a:ext cx="23774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Connect a GitHub/GitLab/Bitbucket repository to a workspace. Changes in the tracked branch can trigger Terraform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74320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73152" cy="160020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380744"/>
            <a:ext cx="2395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1856232"/>
            <a:ext cx="23774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A workspace associates configuration, variables, state and run history with an environment or deployment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34440"/>
            <a:ext cx="274320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73152" cy="1600200"/>
          </a:xfrm>
          <a:prstGeom prst="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380744"/>
            <a:ext cx="2395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28530"/>
                </a:solidFill>
              </a:rPr>
              <a:t>Variables &amp; Secrets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856232"/>
            <a:ext cx="23774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Store Terraform variables and sensitive values in the workspace rather than hard-coding credentials in .tf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234440"/>
            <a:ext cx="23317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234440"/>
            <a:ext cx="73152" cy="1600200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1380744"/>
            <a:ext cx="19842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Remote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1856232"/>
            <a:ext cx="1965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32B37"/>
                </a:solidFill>
              </a:rPr>
              <a:t>Terraform Cloud can run Terraform in its managed execution environment, giving teams a consistent execution location.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337560"/>
            <a:ext cx="4754880" cy="16459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3337560"/>
            <a:ext cx="73152" cy="16459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3483864"/>
            <a:ext cx="4407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Run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959352"/>
            <a:ext cx="4389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A typical VCS-driven run is: configuration fetch → init → validate/plan → policy checks where configured → apply when approved/allowed.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337560"/>
            <a:ext cx="4754880" cy="16459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3337560"/>
            <a:ext cx="73152" cy="164592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3483864"/>
            <a:ext cx="4407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Auditability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959352"/>
            <a:ext cx="4389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Run history captures plans/applies and helps teams understand when infrastructure changed and which run performed the change.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34924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74040"/>
                </a:solidFill>
              </a:defRPr>
            </a:pPr>
            <a:r>
              <a:t>Important: choose one clear state/execution model per workspace. Do not casually mix a local S3 backend workflow with a Terraform Cloud-managed state workflow without understanding the backend/execution design.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How Git Enables Continuous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Git provides the change-control mechanism; Terraform Cloud provides infrastructure execution and run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234440" cy="91440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
Branch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1874519"/>
            <a:ext cx="1828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5146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2B37"/>
                </a:solidFill>
              </a:defRPr>
            </a:pPr>
            <a:r>
              <a:t>Developer creates feature branch.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417320"/>
            <a:ext cx="1234440" cy="91440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
Edit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1874519"/>
            <a:ext cx="1828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74520" y="25146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2B37"/>
                </a:solidFill>
              </a:defRPr>
            </a:pPr>
            <a:r>
              <a:t>Modify Terraform, variables or modules.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1234440" cy="91440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
Commit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1874519"/>
            <a:ext cx="1828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91840" y="25146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2B37"/>
                </a:solidFill>
              </a:defRPr>
            </a:pPr>
            <a:r>
              <a:t>Record a small, traceable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417320"/>
            <a:ext cx="1234440" cy="91440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
Push / PR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1874519"/>
            <a:ext cx="1828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09160" y="25146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2B37"/>
                </a:solidFill>
              </a:defRPr>
            </a:pPr>
            <a:r>
              <a:t>Push branch and open pull request.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17320"/>
            <a:ext cx="1234440" cy="91440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
Automated Plan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06640" y="1874519"/>
            <a:ext cx="1828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0" y="25146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2B37"/>
                </a:solidFill>
              </a:defRPr>
            </a:pPr>
            <a:r>
              <a:t>Terraform Cloud runs a preview/plan for the change.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417320"/>
            <a:ext cx="1234440" cy="91440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
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23960" y="1874519"/>
            <a:ext cx="1828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43800" y="25146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2B37"/>
                </a:solidFill>
              </a:defRPr>
            </a:pPr>
            <a:r>
              <a:t>Team reviews code + Terraform plan.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417320"/>
            <a:ext cx="1234440" cy="91440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7
Merge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41280" y="1874519"/>
            <a:ext cx="18288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61119" y="25146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2B37"/>
                </a:solidFill>
              </a:defRPr>
            </a:pPr>
            <a:r>
              <a:t>Approved change is merged to the tracked branch.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24160" y="1417320"/>
            <a:ext cx="1234440" cy="91440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8
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51460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232B37"/>
                </a:solidFill>
              </a:defRPr>
            </a:pPr>
            <a:r>
              <a:t>Controlled run applies the approved infrastructure change.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886200"/>
            <a:ext cx="489204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3886200"/>
            <a:ext cx="73152" cy="1508760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032504"/>
            <a:ext cx="4544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CI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507992"/>
            <a:ext cx="45262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Every change is validated early. A pull request can expose syntax errors, provider/resource problems and the expected infrastructure diff before merge.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886200"/>
            <a:ext cx="489204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3886200"/>
            <a:ext cx="73152" cy="1508760"/>
          </a:xfrm>
          <a:prstGeom prst="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4032504"/>
            <a:ext cx="45445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28530"/>
                </a:solidFill>
              </a:rPr>
              <a:t>CD principle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4507992"/>
            <a:ext cx="45262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After approval, the controlled pipeline applies the exact reviewed configuration to the target environment, with state and run history retained.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Recommended Pull Request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A practical Git-based CI flow for the supplied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5146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80744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56232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Fetch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68880"/>
            <a:ext cx="25146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46888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615184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090672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terraform fmt -check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03320"/>
            <a:ext cx="25146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70332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849624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Init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325112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terraform init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1234440"/>
            <a:ext cx="25146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79" y="123444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1380744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1856232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terraform validate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2468880"/>
            <a:ext cx="25146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79" y="246888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2615184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Lint /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3090672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Optional tflint, Checkov, tfsec, etc.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79" y="3703320"/>
            <a:ext cx="25146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79" y="3703320"/>
            <a:ext cx="73152" cy="96012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3849624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4325112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terraform plan / Terraform Cloud speculative plan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234440"/>
            <a:ext cx="25146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1234440"/>
            <a:ext cx="73152" cy="960120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1380744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1856232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Review code +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2468880"/>
            <a:ext cx="25146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2468880"/>
            <a:ext cx="73152" cy="960120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2615184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Merge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090672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Merge to protected branch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703320"/>
            <a:ext cx="251460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703320"/>
            <a:ext cx="73152" cy="960120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849624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Apply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4325112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Terraform Cloud controlled apply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123444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</a:defRPr>
            </a:pPr>
            <a:r>
              <a:t>Protect main with pull-request review and status checks.</a:t>
            </a:r>
          </a:p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</a:defRPr>
            </a:pPr>
            <a:r>
              <a:t>Require the plan to succeed before merge.</a:t>
            </a:r>
          </a:p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</a:defRPr>
            </a:pPr>
            <a:r>
              <a:t>Use separate workspaces/environments for dev, staging and prod.</a:t>
            </a:r>
          </a:p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</a:defRPr>
            </a:pPr>
            <a:r>
              <a:t>Use approvals for production applies where appropriate.</a:t>
            </a:r>
          </a:p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</a:defRPr>
            </a:pPr>
            <a:r>
              <a:t>Keep secrets out of Git; use Terraform Cloud/HCP Terraform variables or an approved secrets system.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Terraform Cloud Run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What happens after Git sends a change to the workspace.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1508760" cy="45720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VCS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078992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Commit / PR / merge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89888" y="1508760"/>
            <a:ext cx="0" cy="164592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673352"/>
            <a:ext cx="1508760" cy="45720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700784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Workspace receives run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89888" y="2130552"/>
            <a:ext cx="0" cy="164592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2295144"/>
            <a:ext cx="1508760" cy="45720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322575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Provider + modules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89888" y="2752344"/>
            <a:ext cx="0" cy="164592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2916936"/>
            <a:ext cx="1508760" cy="457200"/>
          </a:xfrm>
          <a:prstGeom prst="round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944368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Calculate desired changes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89888" y="3374136"/>
            <a:ext cx="0" cy="164592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3538728"/>
            <a:ext cx="1508760" cy="457200"/>
          </a:xfrm>
          <a:prstGeom prst="round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566160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Optional policy checks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89888" y="3995928"/>
            <a:ext cx="0" cy="164592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4160520"/>
            <a:ext cx="1508760" cy="457200"/>
          </a:xfrm>
          <a:prstGeom prst="round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187952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Manual/automatic gate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89888" y="4617720"/>
            <a:ext cx="0" cy="164592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4782312"/>
            <a:ext cx="1508760" cy="457200"/>
          </a:xfrm>
          <a:prstGeom prst="round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809744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Create/update/destroy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5239512"/>
            <a:ext cx="0" cy="164592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" y="5404104"/>
            <a:ext cx="1508760" cy="457200"/>
          </a:xfrm>
          <a:prstGeom prst="round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431536"/>
            <a:ext cx="3657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Record resulting state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325880"/>
            <a:ext cx="47548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325880"/>
            <a:ext cx="73152" cy="1417320"/>
          </a:xfrm>
          <a:prstGeom prst="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1472184"/>
            <a:ext cx="4407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28530"/>
                </a:solidFill>
              </a:rPr>
              <a:t>Plan is not Apply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1947672"/>
            <a:ext cx="43891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A plan describes the proposed infrastructure changes. Apply is the operation that makes those changes in AWS.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063240"/>
            <a:ext cx="47548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063240"/>
            <a:ext cx="73152" cy="141732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3209544"/>
            <a:ext cx="4407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B74040"/>
                </a:solidFill>
              </a:rPr>
              <a:t>Failure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3685032"/>
            <a:ext cx="43891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If validation, policy, credentials, provider operations or AWS API calls fail, the run should stop rather than silently progressing to the next stage.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800600"/>
            <a:ext cx="4754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800600"/>
            <a:ext cx="73152" cy="109728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946904"/>
            <a:ext cx="4407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Audit trail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54223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The workspace retains run information so teams can correlate Git changes with infrastructure operations.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Managing Dev / Staging /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Use Git and Terraform Cloud workspace boundaries to make environment changes explicit.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1272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Feature development and experimentation. Lower blast radius. Automatic plans can be used frequently.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82880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72184"/>
            <a:ext cx="31272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staging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Integration validation. Mirror important production patterns before release.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72184"/>
            <a:ext cx="31272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28530"/>
                </a:solidFill>
              </a:rPr>
              <a:t>prod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B37"/>
                </a:solidFill>
              </a:rPr>
              <a:t>Protected environment. Strong review, approvals, restricted credentials and controlled apply.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0" y="2240280"/>
            <a:ext cx="22860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18120" y="2240280"/>
            <a:ext cx="228600" cy="0"/>
          </a:xfrm>
          <a:prstGeom prst="line">
            <a:avLst/>
          </a:prstGeom>
          <a:ln w="31750">
            <a:solidFill>
              <a:srgbClr val="674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84048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Use environment-specific variables rather than editing the same .tf code for every environment.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Workspace naming example: gopal-project-dev, gopal-project-staging, gopal-project-prod.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Use branch protection and required checks for production.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Keep state isolated per environment.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Promotion should be a deliberate Git change, not a manual edit inside AWS.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Outputs: Making Deployment Information Visible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5577840" cy="3931920"/>
          </a:xfrm>
          <a:prstGeom prst="roundRect">
            <a:avLst/>
          </a:prstGeom>
          <a:solidFill>
            <a:srgbClr val="1B2028"/>
          </a:solidFill>
          <a:ln>
            <a:solidFill>
              <a:srgbClr val="46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5303520" cy="37124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nsolas"/>
              </a:rPr>
              <a:t>output "instance_details" {
  value = {
    for name, instance in aws_instance.web_vm :
    name =&gt; {
      instance_id = instance.id
      public_ip   = instance.public_ip
      private_ip  = instance.private_ip
    }
  }
}
output "alb_dns" {
  value = aws_lb.web_lb.dns_name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3716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instance_details uses a for expression to produce one structured object per EC2 key.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public_ip is useful for direct testing in the supplied lab configuration.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private_ip is useful for internal identification and troubleshooting.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alb_dns is the preferred application entry point once the ALB is healthy.</a:t>
            </a:r>
          </a:p>
          <a:p>
            <a:pPr>
              <a:spcAft>
                <a:spcPts val="700"/>
              </a:spcAft>
              <a:defRPr sz="1500" b="0">
                <a:solidFill>
                  <a:srgbClr val="232B37"/>
                </a:solidFill>
              </a:defRPr>
            </a:pPr>
            <a:r>
              <a:t>Terraform Cloud can expose run outputs to authorized users after a successful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Demo Walkthrough: From Code to Working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1. terraform init — initialize providers/backend.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2. terraform fmt — format configuration.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3. terraform validate — validate syntax and configuration.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4. terraform plan — inspect the infrastructure change.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5. terraform apply — create VPC, subnets, IGW, routes, SGs, EC2 and ALB.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6. Wait for EC2 user_data to install Nginx.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7. ALB health checks verify the EC2 targets return HTTP 200.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8. Read terraform output alb_dns and open it in a browser.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9. Make a Git change, create a pull request and inspect the Terraform Cloud plan.</a:t>
            </a:r>
          </a:p>
          <a:p>
            <a:pPr>
              <a:spcAft>
                <a:spcPts val="700"/>
              </a:spcAft>
              <a:defRPr sz="1700" b="0">
                <a:solidFill>
                  <a:srgbClr val="232B37"/>
                </a:solidFill>
              </a:defRPr>
            </a:pPr>
            <a:r>
              <a:t>10. Merge and execute the controlled apply; verify the changed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Troubleshooting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Use the layer where the failure occurs to narrow the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743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73152" cy="1325880"/>
          </a:xfrm>
          <a:prstGeom prst="rect">
            <a:avLst/>
          </a:prstGeom>
          <a:solidFill>
            <a:srgbClr val="B7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0744"/>
            <a:ext cx="2395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B74040"/>
                </a:solidFill>
              </a:rPr>
              <a:t>Terraform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56232"/>
            <a:ext cx="23774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Run fmt/validate; inspect references, types, map keys and provider versions.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743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73152" cy="1325880"/>
          </a:xfrm>
          <a:prstGeom prst="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380744"/>
            <a:ext cx="2395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28530"/>
                </a:solidFill>
              </a:rPr>
              <a:t>Backend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1856232"/>
            <a:ext cx="23774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Check bucket name, region, IAM permissions, key path and S3 lockfile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34440"/>
            <a:ext cx="2743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73152" cy="132588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380744"/>
            <a:ext cx="23957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770BE"/>
                </a:solidFill>
              </a:rPr>
              <a:t>AWS networking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856232"/>
            <a:ext cx="23774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B37"/>
                </a:solidFill>
              </a:rPr>
              <a:t>Check subnet route table association, IGW attachment, public IP and security group.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234440"/>
            <a:ext cx="23317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234440"/>
            <a:ext cx="73152" cy="1325880"/>
          </a:xfrm>
          <a:prstGeom prst="rect">
            <a:avLst/>
          </a:prstGeom>
          <a:solidFill>
            <a:srgbClr val="27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1380744"/>
            <a:ext cx="19842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7895C"/>
                </a:solidFill>
              </a:rPr>
              <a:t>EC2/Nginx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1856232"/>
            <a:ext cx="19659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32B37"/>
                </a:solidFill>
              </a:rPr>
              <a:t>Check instance status, user_data/cloud-init logs and Nginx service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2971800"/>
            <a:ext cx="32004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80160" y="2971800"/>
            <a:ext cx="73152" cy="141732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3118104"/>
            <a:ext cx="28529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ALB unhealthy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593592"/>
            <a:ext cx="28346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Verify target registration, port 80, SG rules, Nginx and HTTP 200 response.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2971800"/>
            <a:ext cx="32004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2971800"/>
            <a:ext cx="73152" cy="1417320"/>
          </a:xfrm>
          <a:prstGeom prst="rect">
            <a:avLst/>
          </a:prstGeom>
          <a:solidFill>
            <a:srgbClr val="674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3118104"/>
            <a:ext cx="28529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674AB1"/>
                </a:solidFill>
              </a:rPr>
              <a:t>Git/TFC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3593592"/>
            <a:ext cx="28346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Check VCS connection, workspace working directory, variables, credentials and run logs.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2971800"/>
            <a:ext cx="32004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71800"/>
            <a:ext cx="73152" cy="1417320"/>
          </a:xfrm>
          <a:prstGeom prst="rect">
            <a:avLst/>
          </a:prstGeom>
          <a:solidFill>
            <a:srgbClr val="E2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3118104"/>
            <a:ext cx="28529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28530"/>
                </a:solidFill>
              </a:rPr>
              <a:t>State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593592"/>
            <a:ext cx="28346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7"/>
                </a:solidFill>
              </a:rPr>
              <a:t>Use Terraform plan to identify differences; avoid manual AWS edits when possible.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8348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74040"/>
                </a:solidFill>
              </a:defRPr>
            </a:pPr>
            <a:r>
              <a:t>Always identify whether the issue is in Git, Terraform configuration, backend/state, Terraform Cloud execution, AWS API, networking, or application bootstrap.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05B"/>
                </a:solidFill>
              </a:rPr>
              <a:t>Production Hardening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677"/>
                </a:solidFill>
              </a:rPr>
              <a:t>These are improvements to consider beyond the supplied lab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Restrict SSH (22) rather than allowing 0.0.0.0/0.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Allow EC2 HTTP only from the ALB security group.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Add HTTPS on the ALB with an ACM certificate and redirect HTTP → HTTPS.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Consider private EC2 subnets with a NAT Gateway or another controlled egress design.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Use IAM roles/instance profiles rather than long-lived AWS access keys.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Enable S3 bucket versioning and strong access controls for state protection.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Use separate environment states/workspaces and least-privilege credentials.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Add automated Terraform formatting, validation, linting and security scanning to CI.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Pin provider/module versions deliberately and review upgrades.</a:t>
            </a:r>
          </a:p>
          <a:p>
            <a:pPr>
              <a:spcAft>
                <a:spcPts val="700"/>
              </a:spcAft>
              <a:defRPr sz="1600" b="0">
                <a:solidFill>
                  <a:srgbClr val="232B37"/>
                </a:solidFill>
              </a:defRPr>
            </a:pPr>
            <a:r>
              <a:t>Use policy-as-code and approval gates for sensitive production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</a:defRPr>
            </a:pPr>
            <a:r>
              <a:t>Terraform defines AWS infrastructure as code and calculates the desired state.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</a:defRPr>
            </a:pPr>
            <a:r>
              <a:t>Git provides version control, collaboration, pull requests and an auditable history of infrastructure changes.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</a:defRPr>
            </a:pPr>
            <a:r>
              <a:t>Terraform Cloud connects Git changes to repeatable Terraform runs, remote state/run history and optional policy/approval controls.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</a:defRPr>
            </a:pPr>
            <a:r>
              <a:t>The supplied project demonstrates VPC → public/private subnets → routing → security groups → EC2/Nginx → ALB.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</a:defRPr>
            </a:pPr>
            <a:r>
              <a:t>Continuous Integration means validating changes early; Continuous Delivery/Deployment means applying approved changes through a controlled automation path.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</a:defRPr>
            </a:pPr>
            <a:r>
              <a:t>Treat state, credentials and production applies as protected resources.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65392"/>
            <a:ext cx="11247120" cy="18288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677"/>
                </a:solidFill>
              </a:rPr>
              <a:t>Terraform + Terraform Cloud + Git CI/CD  |  Slide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