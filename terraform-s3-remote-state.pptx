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120640" cy="5120640"/>
          </a:xfrm>
          <a:prstGeom prst="ellipse">
            <a:avLst/>
          </a:prstGeom>
          <a:solidFill>
            <a:srgbClr val="6C5CE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5" name="Image 0" descr="/home/claude/ppt/icon_terrafor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9326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2011680" y="822960"/>
            <a:ext cx="822960" cy="82296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8" name="Image 1" descr="/home/claude/ppt/icon_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02412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880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·  AWS S3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4612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Remote State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Amazon S3</a:t>
            </a:r>
            <a:endParaRPr lang="en-US" sz="4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5074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safe, collaborative, and locked infrastructure state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Infrastructure as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5453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local state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8928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keeping state on a laptop doesn't scale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417320" y="2359152"/>
            <a:ext cx="9418320" cy="0"/>
          </a:xfrm>
          <a:prstGeom prst="line">
            <a:avLst/>
          </a:prstGeom>
          <a:noFill/>
          <a:ln w="12700">
            <a:solidFill>
              <a:srgbClr val="EAE6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441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remote state solves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7889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Collaboration, locking, and a single source of truth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17320" y="3255264"/>
            <a:ext cx="9418320" cy="0"/>
          </a:xfrm>
          <a:prstGeom prst="line">
            <a:avLst/>
          </a:prstGeom>
          <a:noFill/>
          <a:ln w="12700">
            <a:solidFill>
              <a:srgbClr val="EAE6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337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S3 is a natural fit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6850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Durability, versioning, and encryption out of the box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417320" y="4151376"/>
            <a:ext cx="9418320" cy="0"/>
          </a:xfrm>
          <a:prstGeom prst="line">
            <a:avLst/>
          </a:prstGeom>
          <a:noFill/>
          <a:ln w="12700">
            <a:solidFill>
              <a:srgbClr val="EA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2336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backend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5811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Bucket, locking, and the Terraform backend block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417320" y="5047488"/>
            <a:ext cx="9418320" cy="0"/>
          </a:xfrm>
          <a:prstGeom prst="line">
            <a:avLst/>
          </a:prstGeom>
          <a:noFill/>
          <a:ln w="12700">
            <a:solidFill>
              <a:srgbClr val="EAE6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12978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&amp; securing state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47725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existing state and locking it down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state doesn't scale with a team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1E1840"/>
          </a:solidFill>
          <a:ln/>
        </p:spPr>
      </p:sp>
      <p:pic>
        <p:nvPicPr>
          <p:cNvPr id="8" name="Image 0" descr="/home/claude/ppt/icon_no_col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93976"/>
            <a:ext cx="429768" cy="4297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18928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collaboration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31343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 lives on one laptop — teammates can't plan or apply against the same truth.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80760" y="160020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1920240"/>
            <a:ext cx="777240" cy="777240"/>
          </a:xfrm>
          <a:prstGeom prst="ellipse">
            <a:avLst/>
          </a:prstGeom>
          <a:solidFill>
            <a:srgbClr val="1E1840"/>
          </a:solidFill>
          <a:ln/>
        </p:spPr>
      </p:sp>
      <p:pic>
        <p:nvPicPr>
          <p:cNvPr id="13" name="Image 1" descr="/home/claude/ppt/icon_no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093976"/>
            <a:ext cx="429768" cy="4297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60920" y="18928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locking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7360920" y="231343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running apply at once can corrupt state or apply conflicting changes.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7033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4023360"/>
            <a:ext cx="777240" cy="777240"/>
          </a:xfrm>
          <a:prstGeom prst="ellipse">
            <a:avLst/>
          </a:prstGeom>
          <a:solidFill>
            <a:srgbClr val="1E1840"/>
          </a:solidFill>
          <a:ln/>
        </p:spPr>
      </p:sp>
      <p:pic>
        <p:nvPicPr>
          <p:cNvPr id="18" name="Image 2" descr="/home/claude/ppt/icon_expos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197096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28800" y="39959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plain text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828800" y="441655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attributes, including sensitive values, sit unencrypted in a local file.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080760" y="37033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22" name="Shape 17"/>
          <p:cNvSpPr/>
          <p:nvPr/>
        </p:nvSpPr>
        <p:spPr>
          <a:xfrm>
            <a:off x="6400800" y="4023360"/>
            <a:ext cx="777240" cy="777240"/>
          </a:xfrm>
          <a:prstGeom prst="ellipse">
            <a:avLst/>
          </a:prstGeom>
          <a:solidFill>
            <a:srgbClr val="1E1840"/>
          </a:solidFill>
          <a:ln/>
        </p:spPr>
      </p:sp>
      <p:pic>
        <p:nvPicPr>
          <p:cNvPr id="23" name="Image 3" descr="/home/claude/ppt/icon_no_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197096"/>
            <a:ext cx="429768" cy="4297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39959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or recovery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7360920" y="441655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apply or a deleted file, and there's no version to roll back to.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Terraform state, exactly?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is a JSON file —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4A3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terraform.tfstate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maps every resource in your configuration to the real object it created in AWS.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36392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900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resource IDs, metadata, and dependency ordering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5570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Terraform detect drift between config and reality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70248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1239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read and rewritten on every plan and apply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92240" y="1554480"/>
            <a:ext cx="2286000" cy="3566160"/>
          </a:xfrm>
          <a:prstGeom prst="roundRect">
            <a:avLst>
              <a:gd name="adj" fmla="val 4000"/>
            </a:avLst>
          </a:prstGeom>
          <a:solidFill>
            <a:srgbClr val="F2F0FA"/>
          </a:solidFill>
          <a:ln w="12700">
            <a:solidFill>
              <a:srgbClr val="EAE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1488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"aws_instance"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"web" { ... 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3063240"/>
            <a:ext cx="594360" cy="365760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1554480"/>
            <a:ext cx="2286000" cy="3566160"/>
          </a:xfrm>
          <a:prstGeom prst="roundRect">
            <a:avLst>
              <a:gd name="adj" fmla="val 4000"/>
            </a:avLst>
          </a:prstGeom>
          <a:solidFill>
            <a:srgbClr val="1E18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terraform.tfstate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21488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"aws_instance",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"id": "i-0abc123",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"ami": "ami-0f9d..."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52578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describes desired resources; state records what actually exists.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remote state gives you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2F0FA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19659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pt/icon_col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21488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1089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74904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plans and applies against one shared, authoritative state.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4A3B8C"/>
          </a:solidFill>
          <a:ln/>
        </p:spPr>
      </p:sp>
      <p:sp>
        <p:nvSpPr>
          <p:cNvPr id="12" name="Shape 9"/>
          <p:cNvSpPr/>
          <p:nvPr/>
        </p:nvSpPr>
        <p:spPr>
          <a:xfrm>
            <a:off x="4105656" y="1965960"/>
            <a:ext cx="914400" cy="914400"/>
          </a:xfrm>
          <a:prstGeom prst="ellipse">
            <a:avLst/>
          </a:prstGeom>
          <a:solidFill>
            <a:srgbClr val="1E1840"/>
          </a:solidFill>
          <a:ln/>
        </p:spPr>
      </p:sp>
      <p:pic>
        <p:nvPicPr>
          <p:cNvPr id="13" name="Image 1" descr="/home/claude/ppt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1488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31089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374904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D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 prevents two applies from running against the same state at once.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60020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2F0FA"/>
          </a:solidFill>
          <a:ln/>
        </p:spPr>
      </p:sp>
      <p:sp>
        <p:nvSpPr>
          <p:cNvPr id="17" name="Shape 13"/>
          <p:cNvSpPr/>
          <p:nvPr/>
        </p:nvSpPr>
        <p:spPr>
          <a:xfrm>
            <a:off x="6848856" y="19659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21488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31089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access control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36208" y="374904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— including sensitive values — is encrypted and access-controlled centrally.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778240" y="160020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2F0FA"/>
          </a:solidFill>
          <a:ln/>
        </p:spPr>
      </p:sp>
      <p:sp>
        <p:nvSpPr>
          <p:cNvPr id="22" name="Shape 17"/>
          <p:cNvSpPr/>
          <p:nvPr/>
        </p:nvSpPr>
        <p:spPr>
          <a:xfrm>
            <a:off x="9592056" y="19659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ppt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36" y="214884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61120" y="31089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979408" y="374904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and every engineer read the exact same infrastructure record.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was built for exactly this job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rgbClr val="F2F0FA"/>
          </a:solidFill>
          <a:ln/>
        </p:spPr>
      </p:sp>
      <p:pic>
        <p:nvPicPr>
          <p:cNvPr id="7" name="Image 0" descr="/home/claude/ppt/icon_dur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92808"/>
            <a:ext cx="466344" cy="4663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99.999999999% durability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574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nines of durability means state effectively never gets silently lost.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868680" cy="868680"/>
          </a:xfrm>
          <a:prstGeom prst="ellipse">
            <a:avLst/>
          </a:prstGeom>
          <a:solidFill>
            <a:srgbClr val="F2F0FA"/>
          </a:solidFill>
          <a:ln/>
        </p:spPr>
      </p:sp>
      <p:pic>
        <p:nvPicPr>
          <p:cNvPr id="11" name="Image 1" descr="/home/claude/ppt/icon_versio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892808"/>
            <a:ext cx="466344" cy="4663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versioning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0574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keeps a prior version — an accidental overwrite is one restore away.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868680" cy="868680"/>
          </a:xfrm>
          <a:prstGeom prst="ellipse">
            <a:avLst/>
          </a:prstGeom>
          <a:solidFill>
            <a:srgbClr val="F2F0FA"/>
          </a:solidFill>
          <a:ln/>
        </p:spPr>
      </p:sp>
      <p:pic>
        <p:nvPicPr>
          <p:cNvPr id="15" name="Image 2" descr="/home/claude/ppt/icon_encryp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50208"/>
            <a:ext cx="466344" cy="4663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675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encryption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41148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 or SSE-KMS encrypts state at rest with no extra infrastructure to run.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749040"/>
            <a:ext cx="868680" cy="868680"/>
          </a:xfrm>
          <a:prstGeom prst="ellipse">
            <a:avLst/>
          </a:prstGeom>
          <a:solidFill>
            <a:srgbClr val="F2F0FA"/>
          </a:solidFill>
          <a:ln/>
        </p:spPr>
      </p:sp>
      <p:pic>
        <p:nvPicPr>
          <p:cNvPr id="19" name="Image 3" descr="/home/claude/ppt/icon_c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950208"/>
            <a:ext cx="466344" cy="4663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60920" y="3675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Pennies a month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7360920" y="41148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 are tiny; storage and requests cost a fraction of a cent per apply.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5532120"/>
            <a:ext cx="10177272" cy="594360"/>
          </a:xfrm>
          <a:prstGeom prst="roundRect">
            <a:avLst>
              <a:gd name="adj" fmla="val 12308"/>
            </a:avLst>
          </a:prstGeom>
          <a:solidFill>
            <a:srgbClr val="1E1840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22960" y="553212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patch.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a managed service — the backend itself has nothing for you to operate.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7" name="Image 0" descr="/home/claude/ppt/icon_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653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" y="2441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371600" y="2057400"/>
            <a:ext cx="1691640" cy="1965960"/>
          </a:xfrm>
          <a:prstGeom prst="line">
            <a:avLst/>
          </a:prstGeom>
          <a:noFill/>
          <a:ln w="19050">
            <a:solidFill>
              <a:srgbClr val="EAE6F7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640080" y="3108960"/>
            <a:ext cx="731520" cy="73152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11" name="Image 1" descr="/home/claude/ppt/icon_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2826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" y="3858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371600" y="3474720"/>
            <a:ext cx="1691640" cy="548640"/>
          </a:xfrm>
          <a:prstGeom prst="line">
            <a:avLst/>
          </a:prstGeom>
          <a:noFill/>
          <a:ln w="19050">
            <a:solidFill>
              <a:srgbClr val="EAE6F7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40080" y="4526280"/>
            <a:ext cx="731520" cy="73152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15" name="Image 2" descr="/home/claude/ppt/icon_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7000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1480" y="5276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371600" y="4892040"/>
            <a:ext cx="1691640" cy="-868680"/>
          </a:xfrm>
          <a:prstGeom prst="line">
            <a:avLst/>
          </a:prstGeom>
          <a:noFill/>
          <a:ln w="19050">
            <a:solidFill>
              <a:srgbClr val="EAE6F7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3063240" y="3017520"/>
            <a:ext cx="2880360" cy="2011680"/>
          </a:xfrm>
          <a:prstGeom prst="roundRect">
            <a:avLst>
              <a:gd name="adj" fmla="val 5455"/>
            </a:avLst>
          </a:prstGeom>
          <a:solidFill>
            <a:srgbClr val="1E184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046220" y="3200400"/>
            <a:ext cx="914400" cy="91440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20" name="Image 3" descr="/home/claude/ppt/icon_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388" y="3401568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063240" y="4160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Bucket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3063240" y="4480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(versioned + encrypted)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080760" y="3822192"/>
            <a:ext cx="548640" cy="384048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24" name="Shape 18"/>
          <p:cNvSpPr/>
          <p:nvPr/>
        </p:nvSpPr>
        <p:spPr>
          <a:xfrm>
            <a:off x="6766560" y="30175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2F0FA"/>
          </a:solidFill>
          <a:ln w="12700">
            <a:solidFill>
              <a:srgbClr val="EAE6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12380" y="3200400"/>
            <a:ext cx="822960" cy="82296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26" name="Image 4" descr="/home/claude/ppt/icon_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33832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766560" y="4160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DynamoDB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766560" y="4480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table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(prevents concurrent apply)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9464040" y="3822192"/>
            <a:ext cx="502920" cy="384048"/>
          </a:xfrm>
          <a:prstGeom prst="rightArrow">
            <a:avLst/>
          </a:prstGeom>
          <a:solidFill>
            <a:srgbClr val="6B6584"/>
          </a:solidFill>
          <a:ln/>
        </p:spPr>
      </p:sp>
      <p:sp>
        <p:nvSpPr>
          <p:cNvPr id="30" name="Shape 23"/>
          <p:cNvSpPr/>
          <p:nvPr/>
        </p:nvSpPr>
        <p:spPr>
          <a:xfrm>
            <a:off x="10104120" y="3566160"/>
            <a:ext cx="914400" cy="914400"/>
          </a:xfrm>
          <a:prstGeom prst="ellipse">
            <a:avLst/>
          </a:prstGeom>
          <a:solidFill>
            <a:srgbClr val="1E1840"/>
          </a:solidFill>
          <a:ln/>
        </p:spPr>
      </p:sp>
      <p:pic>
        <p:nvPicPr>
          <p:cNvPr id="31" name="Image 5" descr="/home/claude/ppt/icon_serv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3576" y="378561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738360" y="4526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9893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engineers and CI read/write the same S3 object; DynamoDB's lock item ensures only one apply proceeds at a time.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state bucket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the S3 bucket that will hold your state — with versioning and encryption enabled from the start.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863840" cy="4389120"/>
          </a:xfrm>
          <a:prstGeom prst="roundRect">
            <a:avLst>
              <a:gd name="adj" fmla="val 2500"/>
            </a:avLst>
          </a:prstGeom>
          <a:solidFill>
            <a:srgbClr val="150F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0848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20848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0848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202996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bucket.tf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77440"/>
            <a:ext cx="7315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"aws_s3_bucket"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"tf_state"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"my-company-terraform-state"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"aws_s3_bucket_versioning"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"tf_state"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aws_s3_bucket.tf_state.id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versioning_configuration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"Enabled"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"aws_s3_bucket_server_side_encryption_configuration"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"tf_state"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aws_s3_bucket.tf_state.id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apply_server_side_encryption_by_default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sse_algorithm =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"aws:kms"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2203704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0" y="20391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setup, applied before other stacks exist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3255264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0" y="30906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gives you rollback on any bad write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32520" y="4306824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0" y="41422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encryption protects state at rest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Terraform at the backend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backend block to each configuration that should store its state in S3, then run terraform init.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766560" cy="3063240"/>
          </a:xfrm>
          <a:prstGeom prst="roundRect">
            <a:avLst>
              <a:gd name="adj" fmla="val 3582"/>
            </a:avLst>
          </a:prstGeom>
          <a:solidFill>
            <a:srgbClr val="150F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1762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21762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1762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212140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backend.tf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468880"/>
            <a:ext cx="6217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"s3"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        =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"my-company-terraform-state"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        =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"envs/prod/network/terraform.tfstate"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         =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"us-east-1"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dynamodb_table =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"terraform-locks"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        = true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201168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F2F0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key path deliberately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0" y="2852928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65008" y="2697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S3 object per config, not one giant shared state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3602736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65008" y="34472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by env and stack: envs/&lt;env&gt;/&lt;stack&gt;/...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4352544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65008" y="419709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state = faster plans and smaller blast radius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18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Terraform detects the backend block and migrates or connects state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state with DynamoDB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alone doesn't stop two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A3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from colliding. A DynamoDB table acts as a lock: Terraform writes a lock item before it writes state, and releases it after.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18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runs terraform apply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365760" cy="36576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85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acquires a lock item in DynamoDB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52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read, updated, and written back to S3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365760" cy="36576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919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is released for the next run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146304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150F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16276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6775704" y="16276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995160" y="16276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15727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locks.tf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9202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"aws_dynamodb_table"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"tf_locks"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"terraform-locks"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billing_mode 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"PAY_PER_REQUEST"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hash_key     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"LockID"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attribute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"LockID"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E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2F0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option: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1.10+ can use S3's own conditional writes for locking (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3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use_lockfile = true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removing the need for a separate DynamoDB table — check your Terraform version before relying on it.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existing local state to S3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2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first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089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terraform.tfstate somewhere safe before touching the backend config.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9464" y="3154680"/>
            <a:ext cx="146304" cy="320040"/>
          </a:xfrm>
          <a:prstGeom prst="rightArrow">
            <a:avLst/>
          </a:prstGeom>
          <a:solidFill>
            <a:srgbClr val="6B6584"/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16916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2F0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620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862072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backend block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62072" y="31089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terraform { backend "s3" { ... } } block to your configuration.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45736" y="3154680"/>
            <a:ext cx="146304" cy="320040"/>
          </a:xfrm>
          <a:prstGeom prst="rightArrow">
            <a:avLst/>
          </a:prstGeom>
          <a:solidFill>
            <a:srgbClr val="6B6584"/>
          </a:solidFill>
          <a:ln/>
        </p:spPr>
      </p:sp>
      <p:sp>
        <p:nvSpPr>
          <p:cNvPr id="16" name="Shape 14"/>
          <p:cNvSpPr/>
          <p:nvPr/>
        </p:nvSpPr>
        <p:spPr>
          <a:xfrm>
            <a:off x="4901184" y="16916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2F0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3834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038344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init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38344" y="31089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detects the new backend and offers to copy existing state into 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22008" y="3154680"/>
            <a:ext cx="146304" cy="320040"/>
          </a:xfrm>
          <a:prstGeom prst="rightArrow">
            <a:avLst/>
          </a:prstGeom>
          <a:solidFill>
            <a:srgbClr val="6B6584"/>
          </a:solidFill>
          <a:ln/>
        </p:spPr>
      </p:sp>
      <p:sp>
        <p:nvSpPr>
          <p:cNvPr id="21" name="Shape 19"/>
          <p:cNvSpPr/>
          <p:nvPr/>
        </p:nvSpPr>
        <p:spPr>
          <a:xfrm>
            <a:off x="7077456" y="16916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4A3B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1461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14616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copy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214616" y="31089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"yes" to migrate — Terraform uploads state to S3 and locks it there.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3154680"/>
            <a:ext cx="146304" cy="320040"/>
          </a:xfrm>
          <a:prstGeom prst="rightArrow">
            <a:avLst/>
          </a:prstGeom>
          <a:solidFill>
            <a:srgbClr val="6B6584"/>
          </a:solidFill>
          <a:ln/>
        </p:spPr>
      </p:sp>
      <p:sp>
        <p:nvSpPr>
          <p:cNvPr id="26" name="Shape 24"/>
          <p:cNvSpPr/>
          <p:nvPr/>
        </p:nvSpPr>
        <p:spPr>
          <a:xfrm>
            <a:off x="9253728" y="16916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2F0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9088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390888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plan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390888" y="31089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plan; a clean, no-op plan confirms the migration succeeded.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184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one stack at a time in a lower environment first — a bad migration is easy to redo, but easier to avoid.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best practices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pt/icon_encry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at rest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89864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SSE-KMS with a customer-managed key for auditable, revocable access.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12" name="Shape 9"/>
          <p:cNvSpPr/>
          <p:nvPr/>
        </p:nvSpPr>
        <p:spPr>
          <a:xfrm>
            <a:off x="4581144" y="18562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ppt/icon_poli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0025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81144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bucket policy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81144" y="289864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read/write to the roles and pipelines that actually need state access.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01584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357616" y="18562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/icon_publicb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0253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57616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public access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57616" y="289864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Block Public Access at the bucket and account level, no exceptions.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22" name="Shape 17"/>
          <p:cNvSpPr/>
          <p:nvPr/>
        </p:nvSpPr>
        <p:spPr>
          <a:xfrm>
            <a:off x="804672" y="38679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ppt/icon_i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01421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04672" y="45720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IAM per environment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04672" y="491032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and non-prod state should not share the same credentials or role.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325112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27" name="Shape 21"/>
          <p:cNvSpPr/>
          <p:nvPr/>
        </p:nvSpPr>
        <p:spPr>
          <a:xfrm>
            <a:off x="4581144" y="38679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/home/claude/ppt/icon_mf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014216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581144" y="45720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delete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4581144" y="491032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multi-factor auth to permanently delete objects or change versioning.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101584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0FA"/>
          </a:solidFill>
          <a:ln/>
        </p:spPr>
      </p:sp>
      <p:sp>
        <p:nvSpPr>
          <p:cNvPr id="32" name="Shape 25"/>
          <p:cNvSpPr/>
          <p:nvPr/>
        </p:nvSpPr>
        <p:spPr>
          <a:xfrm>
            <a:off x="8357616" y="38679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/home/claude/ppt/icon_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014216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357616" y="45720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access logging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8357616" y="491032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S3 server access logs or CloudTrail data events for the bucket.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AWS S3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7" name="Image 0" descr="/home/claude/ppt/icon_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293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755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is a liability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30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collaboration, offers no locking, and stores secrets unprotected.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594360" cy="59436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11" name="Image 1" descr="/home/claude/ppt/icon_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809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807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a durable, cheap, managed backend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1821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and encryption come built in — no infrastructure to run.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94360" cy="59436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15" name="Image 2" descr="/home/claude/ppt/icon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3250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858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every write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4233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(or native S3 conditional writes) prevents concurrent, conflicting applies.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937760"/>
            <a:ext cx="594360" cy="59436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19" name="Image 3" descr="/home/claude/ppt/icon_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8406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49103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it down like production data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371600" y="5285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policies, blocked public access, and logging — because it is production data.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4A3B8C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6C5CE0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828800"/>
            <a:ext cx="1005840" cy="1005840"/>
          </a:xfrm>
          <a:prstGeom prst="ellipse">
            <a:avLst/>
          </a:prstGeom>
          <a:solidFill>
            <a:srgbClr val="4A3B8C"/>
          </a:solidFill>
          <a:ln/>
        </p:spPr>
      </p:sp>
      <p:pic>
        <p:nvPicPr>
          <p:cNvPr id="5" name="Image 0" descr="/home/claude/ppt/icon_terrafor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56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0632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8862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remote state, locking, or S3 backend setup?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14316" y="4617720"/>
            <a:ext cx="25603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2026-09-10T04:02:47Z</dcterms:created>
  <dcterms:modified xsi:type="dcterms:W3CDTF">2026-09-10T04:02:47Z</dcterms:modified>
</cp:coreProperties>
</file>