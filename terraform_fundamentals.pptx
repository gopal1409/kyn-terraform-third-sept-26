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4B2A80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3291840"/>
            <a:ext cx="3108960" cy="3108960"/>
          </a:xfrm>
          <a:prstGeom prst="ellipse">
            <a:avLst/>
          </a:prstGeom>
          <a:solidFill>
            <a:srgbClr val="7B42BC"/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2926080" cy="2926080"/>
          </a:xfrm>
          <a:prstGeom prst="ellipse">
            <a:avLst/>
          </a:prstGeom>
          <a:solidFill>
            <a:srgbClr val="4B2A8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40080"/>
            <a:ext cx="640080" cy="640080"/>
          </a:xfrm>
          <a:prstGeom prst="ellipse">
            <a:avLst/>
          </a:prstGeom>
          <a:solidFill>
            <a:srgbClr val="7B42B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6217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224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7132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TERRAFORM  ·  AWS EDITION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688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Fundamentals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Providers, Resources, References, Variables, Locals,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Outputs — built with AWS examples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Gopal  ·  Cloud Infrastructure &amp; Platform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1C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5B4B8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C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562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Building Blocks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25856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core block types at a glance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80760" y="169164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5B4B8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30936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C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18562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Block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225856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the AWS provider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5B4B8A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3291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C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2735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Block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6758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 an aws_vpc resource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0760" y="310896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5B4B8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09360" y="3291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C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32735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Referencing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36758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aws_subnet maps to aws_vpc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5B4B8A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77240" y="4709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C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6908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Locals, Data &amp; Outputs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50932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Input, computed values, lookups, exports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80760" y="452628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5B4B8A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309360" y="4709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C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46908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Example &amp; Best Practices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50932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every block together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Fundamentals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1C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 Core Building Blocks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Terraform configuration is composed from a small set of block types that work together.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D9F5"/>
            </a:solidFill>
            <a:prstDash val="solid"/>
          </a:ln>
          <a:effectLst>
            <a:outerShdw sx="100000" sy="100000" kx="0" ky="0" algn="bl" rotWithShape="0" blurRad="63500" dist="25400" dir="5400000">
              <a:srgbClr val="5B4B8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1671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B42B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671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C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/ provider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7432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Configures Terraform and which cloud (AWS) it talks to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42232" y="196596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D9F5"/>
            </a:solidFill>
            <a:prstDash val="solid"/>
          </a:ln>
          <a:effectLst>
            <a:outerShdw sx="100000" sy="100000" kx="0" ky="0" algn="bl" rotWithShape="0" blurRad="63500" dist="25400" dir="5400000">
              <a:srgbClr val="5B4B8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21671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43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919472" y="21671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C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27432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inputs supplied at run time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35824" y="196596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D9F5"/>
            </a:solidFill>
            <a:prstDash val="solid"/>
          </a:ln>
          <a:effectLst>
            <a:outerShdw sx="100000" sy="100000" kx="0" ky="0" algn="bl" rotWithShape="0" blurRad="63500" dist="25400" dir="5400000">
              <a:srgbClr val="5B4B8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36992" y="21671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B42B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3699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513064" y="21671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C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936992" y="27432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infrastructure Terraform creates &amp; manages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D9F5"/>
            </a:solidFill>
            <a:prstDash val="solid"/>
          </a:ln>
          <a:effectLst>
            <a:outerShdw sx="100000" sy="100000" kx="0" ky="0" algn="bl" rotWithShape="0" blurRad="63500" dist="25400" dir="5400000">
              <a:srgbClr val="5B4B8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3995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3995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C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45720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existing infrastructure or external info (read-only)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42232" y="379476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D9F5"/>
            </a:solidFill>
            <a:prstDash val="solid"/>
          </a:ln>
          <a:effectLst>
            <a:outerShdw sx="100000" sy="100000" kx="0" ky="0" algn="bl" rotWithShape="0" blurRad="63500" dist="25400" dir="5400000">
              <a:srgbClr val="5B4B8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43400" y="3995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B42B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3434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919472" y="3995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C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343400" y="45720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reusable values from variables or resources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735824" y="379476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D9F5"/>
            </a:solidFill>
            <a:prstDash val="solid"/>
          </a:ln>
          <a:effectLst>
            <a:outerShdw sx="100000" sy="100000" kx="0" ky="0" algn="bl" rotWithShape="0" blurRad="63500" dist="25400" dir="5400000">
              <a:srgbClr val="5B4B8A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936992" y="3995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936992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8513064" y="3995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C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936992" y="45720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values after apply, for humans or other configs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Fundamentals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OF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1C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Provider Block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Terraform which platform to talk to — here, AWS — and how to authenticate to it.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7B4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required_providers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pins the AWS provider plugin and version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8036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"aws" configures region and credentials for every AWS resource in the config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can be hard-coded or, better, driven by an input variable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authenticates using env vars, shared credentials file, or an IAM role — never hard-coded keys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89320" y="1508760"/>
            <a:ext cx="5669280" cy="4206240"/>
          </a:xfrm>
          <a:prstGeom prst="roundRect">
            <a:avLst>
              <a:gd name="adj" fmla="val 1957"/>
            </a:avLst>
          </a:prstGeom>
          <a:solidFill>
            <a:srgbClr val="231F3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263640" y="1709928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{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required_providers {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aws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source  = 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"hashicorp/aws"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version = 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"~&gt; 5.0"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"aws"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 = 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C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var.aws_region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Fundamentals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OF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1C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Resource Block — aws_vpc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resource block declares an actual piece of infrastructure Terraform will create, update, and destroy.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EDE7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3957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4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buNone/>
            </a:pPr>
            <a:r>
              <a:rPr lang="en-US" sz="1500" b="1" dirty="0">
                <a:solidFill>
                  <a:srgbClr val="201C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"aws_vpc" "main"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2491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“&lt;TYPE&gt;” “&lt;LOCAL NAME&gt;” — the type picks the AWS API; the name is how you reference it elsewhere.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8328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cidr_block defines the VPC's private IP address range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enable_dns_support / enable_dns_hostnames turn on internal DNS resolution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use string interpolation with var.project_name for consistent naming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tracks this resource in state as aws_vpc.main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89320" y="1508760"/>
            <a:ext cx="5669280" cy="3246120"/>
          </a:xfrm>
          <a:prstGeom prst="roundRect">
            <a:avLst>
              <a:gd name="adj" fmla="val 2535"/>
            </a:avLst>
          </a:prstGeom>
          <a:solidFill>
            <a:srgbClr val="231F3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63640" y="1709928"/>
            <a:ext cx="51206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"aws_vpc" "main"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          = 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"10.0.0.0/16"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enable_dns_support   = true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enable_dns_hostnames = true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{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"${var.project_name}-vpc"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89320" y="493776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EDE7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0" y="50749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this VPC anywhere else as  </a:t>
            </a:r>
            <a:pPr indent="0" marL="0">
              <a:buNone/>
            </a:pPr>
            <a:r>
              <a:rPr lang="en-US" sz="1300" b="1" dirty="0">
                <a:solidFill>
                  <a:srgbClr val="7B4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aws_vpc.main.id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Fundamentals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RELATIONSHIPS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Resources Reference Each Other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resources link together with a simple dot-notation address — no manual wiring or hard-coded IDs required.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231F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45059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&lt;RESOURCE_TYPE&gt;</a:t>
            </a:r>
            <a:pPr algn="ctr" indent="0" marL="0">
              <a:buNone/>
            </a:pPr>
            <a:r>
              <a:rPr lang="en-US" sz="22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ctr" indent="0" marL="0">
              <a:buNone/>
            </a:pPr>
            <a:r>
              <a:rPr lang="en-US" sz="2200" b="1" dirty="0">
                <a:solidFill>
                  <a:srgbClr val="9C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&lt;RESOURCE_NAME&gt;</a:t>
            </a:r>
            <a:pPr algn="ctr" indent="0" marL="0">
              <a:buNone/>
            </a:pPr>
            <a:r>
              <a:rPr lang="en-US" sz="22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ctr" indent="0" marL="0">
              <a:buNone/>
            </a:pPr>
            <a:r>
              <a:rPr lang="en-US" sz="2200" b="1" dirty="0">
                <a:solidFill>
                  <a:srgbClr val="A7F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&lt;ATTRIBUTE&gt;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9443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B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aws_vpc.main.id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99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34440" y="36484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364845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type — the AWS object being created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27024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9CD9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34440" y="42153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421538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name — the local label you chose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83717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A7F0C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34440" y="47823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47823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attribute — a value AWS returns after creation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553212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4B2A8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" y="56509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reference also creates an implicit dependency: Terraform automatically creates the VPC first, then the resource that reads its id.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Fundamentals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RELATIONSHIPS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1C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aws_subnet References aws_vpc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7B42B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E4D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"main"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60520" y="1847088"/>
            <a:ext cx="1051560" cy="411480"/>
          </a:xfrm>
          <a:prstGeom prst="rightArrow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069080" y="12618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.id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394960" y="155448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F99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577840" y="1691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aws_subnet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"public"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2670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vpc_id = </a:t>
            </a:r>
            <a:pPr algn="ctr" indent="0" marL="0">
              <a:buNone/>
            </a:pPr>
            <a:r>
              <a:rPr lang="en-US" sz="1200" b="1" dirty="0">
                <a:solidFill>
                  <a:srgbClr val="7B4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aws_vpc.main.id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246120"/>
            <a:ext cx="5989320" cy="3246120"/>
          </a:xfrm>
          <a:prstGeom prst="roundRect">
            <a:avLst>
              <a:gd name="adj" fmla="val 2535"/>
            </a:avLst>
          </a:prstGeom>
          <a:solidFill>
            <a:srgbClr val="231F3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3447288"/>
            <a:ext cx="54406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"aws_vpc" "main"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"10.0.0.0/16"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"aws_subnet" "public"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           = 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A7F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aws_vpc.main.id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      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"10.0.1.0/24"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availability_zone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"us-east-1a"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329184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hard-coded VPC ID: the subnet always attaches to whichever VPC this config just created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builds a dependency graph from these references — aws_vpc.main is created before aws_subnet.public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 maps subnets to route tables, security groups to VPCs, and instances to subnets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Fundamentals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OF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1C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Variables — variable Block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parameterize a configuration so the same code can deploy to different regions, projects, or environments.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documents intent for other engineers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constrains input (string, number, bool, list, map, object)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makes a variable optional; omit it to require a value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come from .tfvars files, CLI flags (-var), or environment variables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anywhere in the config as var.&lt;name&gt;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89320" y="1508760"/>
            <a:ext cx="5669280" cy="4206240"/>
          </a:xfrm>
          <a:prstGeom prst="roundRect">
            <a:avLst>
              <a:gd name="adj" fmla="val 1957"/>
            </a:avLst>
          </a:prstGeom>
          <a:solidFill>
            <a:srgbClr val="231F3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263640" y="1709928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"aws_region"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=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 region to deploy resources"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      =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C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    =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"us-east-1"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"project_name"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=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"Project name used for tagging"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      =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C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usage:  </a:t>
            </a:r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A7F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var.aws_region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Fundamentals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OF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1C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Values — locals Block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 compute a reusable value once from variables, resources, or expressions — keeping the config DRY.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variables, locals are not set by the caller — they're derived inside the config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shared tag maps, naming conventions, or merged data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anywhere as local.&lt;name&gt; (singular local, note the syntax)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pattern: merge(local.common_tags, { Name = "..." })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89320" y="1508760"/>
            <a:ext cx="5669280" cy="4206240"/>
          </a:xfrm>
          <a:prstGeom prst="roundRect">
            <a:avLst>
              <a:gd name="adj" fmla="val 1957"/>
            </a:avLst>
          </a:prstGeom>
          <a:solidFill>
            <a:srgbClr val="231F3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263640" y="1709928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 {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common_tags = {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Project     =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C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var.project_name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 =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"dev"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ManagedBy   =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"terraform"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vpc_cidr =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"10.0.0.0/16"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usage:  </a:t>
            </a:r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A7F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local.common_tags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Fundamentals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5 OF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1C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Existing Infrastructure — data Block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fetch read-only information — from AWS or elsewhere — without creating or managing anything.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mirrors resource: data "&lt;TYPE&gt;" "&lt;NAME&gt;" { ... }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as data.&lt;type&gt;.&lt;name&gt;.&lt;attribute&gt;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uses: look up AZs, an existing AMI, a VPC created outside Terraform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during every plan — always reflects current AWS state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89320" y="1508760"/>
            <a:ext cx="5669280" cy="4206240"/>
          </a:xfrm>
          <a:prstGeom prst="roundRect">
            <a:avLst>
              <a:gd name="adj" fmla="val 1957"/>
            </a:avLst>
          </a:prstGeom>
          <a:solidFill>
            <a:srgbClr val="231F3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263640" y="1709928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"aws_availability_zones" "available"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 =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"available"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"aws_subnet" "public"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           =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A7F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aws_vpc.main.id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       =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"10.0.1.0/24"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availability_zone = 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A7F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data.aws_availability_zones.available.names[0]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Fundamentals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6 OF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1C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Exposing Results — output Block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surface values after terraform apply — for a teammate, a script, or another Terraform configuration.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can reference any resource, data source, or local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documents what the output represents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to the terminal after apply, and readable via terraform output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Root-module outputs can be consumed by remote_state in other configs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89320" y="1508760"/>
            <a:ext cx="5669280" cy="4206240"/>
          </a:xfrm>
          <a:prstGeom prst="roundRect">
            <a:avLst>
              <a:gd name="adj" fmla="val 1957"/>
            </a:avLst>
          </a:prstGeom>
          <a:solidFill>
            <a:srgbClr val="231F3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263640" y="1709928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"vpc_id"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=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 of the created VPC"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      = </a:t>
            </a:r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A7F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aws_vpc.main.id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"subnet_ids"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=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"IDs of public subnets"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      = </a:t>
            </a:r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A7F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aws_subnet.public[*].id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Fundamentals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All Six Blocks Together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request for infrastructure flows through every block type, in this order: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30352" y="2286000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FF99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239572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76148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aws_region, project_name supplied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2560320"/>
            <a:ext cx="118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04872" y="2286000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7B42B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496312" y="239572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496312" y="276148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provider configured with var.aws_region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160520" y="2560320"/>
            <a:ext cx="118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79392" y="2286000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FF99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70832" y="239572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370832" y="276148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aws_availability_zones looked up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560320"/>
            <a:ext cx="118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53912" y="2286000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7B42B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45352" y="239572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45352" y="276148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common_tags computed once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2560320"/>
            <a:ext cx="118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28432" y="2286000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FF99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119872" y="239572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119872" y="276148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aws_vpc + aws_subnet created, referencing each other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784080" y="2560320"/>
            <a:ext cx="118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902952" y="2286000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7B42B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994392" y="239572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994392" y="276148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vpc_id and subnet_ids exposed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280160" y="3977640"/>
            <a:ext cx="9601200" cy="2148840"/>
          </a:xfrm>
          <a:prstGeom prst="roundRect">
            <a:avLst>
              <a:gd name="adj" fmla="val 4255"/>
            </a:avLst>
          </a:prstGeom>
          <a:solidFill>
            <a:srgbClr val="231F3D"/>
          </a:solidFill>
          <a:ln/>
        </p:spPr>
      </p:sp>
      <p:sp>
        <p:nvSpPr>
          <p:cNvPr id="29" name="Shape 27"/>
          <p:cNvSpPr/>
          <p:nvPr/>
        </p:nvSpPr>
        <p:spPr>
          <a:xfrm>
            <a:off x="1280160" y="3977640"/>
            <a:ext cx="9601200" cy="2148840"/>
          </a:xfrm>
          <a:prstGeom prst="roundRect">
            <a:avLst>
              <a:gd name="adj" fmla="val 3830"/>
            </a:avLst>
          </a:prstGeom>
          <a:solidFill>
            <a:srgbClr val="231F3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1554480" y="4178808"/>
            <a:ext cx="9052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"aws_subnet" "public"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           = </a:t>
            </a:r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A7F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aws_vpc.main.id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C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availability_zone = data.aws_availability_zones.available.names[0]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             = merge(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D7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local.common_tags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 Name = "public" })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Fundamentals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1C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to Carry Forward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36499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D9F5"/>
            </a:solidFill>
            <a:prstDash val="solid"/>
          </a:ln>
          <a:effectLst>
            <a:outerShdw sx="100000" sy="100000" kx="0" ky="0" algn="bl" rotWithShape="0" blurRad="63500" dist="25400" dir="5400000">
              <a:srgbClr val="5B4B8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556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7B42B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67712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deliberately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633472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resources descriptive local names (main, public) — they appear in every reference and in plan output.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69664" y="1554480"/>
            <a:ext cx="336499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D9F5"/>
            </a:solidFill>
            <a:prstDash val="solid"/>
          </a:ln>
          <a:effectLst>
            <a:outerShdw sx="100000" sy="100000" kx="0" ky="0" algn="bl" rotWithShape="0" blurRad="63500" dist="25400" dir="5400000">
              <a:srgbClr val="5B4B8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0832" y="17556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70832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370832" y="2267712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references over hard-coding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70832" y="2633472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aws_vpc.main.id beats a copy-pasted VPC ID — it stays correct as infrastructure changes.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90688" y="1554480"/>
            <a:ext cx="336499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D9F5"/>
            </a:solidFill>
            <a:prstDash val="solid"/>
          </a:ln>
          <a:effectLst>
            <a:outerShdw sx="100000" sy="100000" kx="0" ky="0" algn="bl" rotWithShape="0" blurRad="63500" dist="25400" dir="5400000">
              <a:srgbClr val="5B4B8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91856" y="17556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7B42B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991856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991856" y="2267712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shared values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991856" y="2633472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common tags and naming rules in locals once, not repeated across every resource.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76472"/>
            <a:ext cx="336499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D9F5"/>
            </a:solidFill>
            <a:prstDash val="solid"/>
          </a:ln>
          <a:effectLst>
            <a:outerShdw sx="100000" sy="100000" kx="0" ky="0" algn="bl" rotWithShape="0" blurRad="63500" dist="25400" dir="5400000">
              <a:srgbClr val="5B4B8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9776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489704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secrets out of code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4855464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credentials via provider auth mechanisms or variables — never hard-code them.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69664" y="3776472"/>
            <a:ext cx="336499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D9F5"/>
            </a:solidFill>
            <a:prstDash val="solid"/>
          </a:ln>
          <a:effectLst>
            <a:outerShdw sx="100000" sy="100000" kx="0" ky="0" algn="bl" rotWithShape="0" blurRad="63500" dist="25400" dir="5400000">
              <a:srgbClr val="5B4B8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70832" y="39776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7B42B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370832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370832" y="4489704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 sources for external facts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370832" y="4855464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AZs, AMIs, and existing infra instead of hard-coding values that can drift.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90688" y="3776472"/>
            <a:ext cx="336499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D9F5"/>
            </a:solidFill>
            <a:prstDash val="solid"/>
          </a:ln>
          <a:effectLst>
            <a:outerShdw sx="100000" sy="100000" kx="0" ky="0" algn="bl" rotWithShape="0" blurRad="63500" dist="25400" dir="5400000">
              <a:srgbClr val="5B4B8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91856" y="39776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991856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991856" y="4489704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what others need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991856" y="4855464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IDs and ARNs other teams or configs depend on — not everything internal.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Fundamentals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4B2A80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7B42BC"/>
          </a:solidFill>
          <a:ln/>
        </p:spPr>
      </p:sp>
      <p:sp>
        <p:nvSpPr>
          <p:cNvPr id="4" name="Shape 2"/>
          <p:cNvSpPr/>
          <p:nvPr/>
        </p:nvSpPr>
        <p:spPr>
          <a:xfrm>
            <a:off x="5637276" y="1737360"/>
            <a:ext cx="914400" cy="914400"/>
          </a:xfrm>
          <a:prstGeom prst="ellipse">
            <a:avLst/>
          </a:prstGeom>
          <a:solidFill>
            <a:srgbClr val="7B42B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37276" y="17190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0" y="288036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0" y="379476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providers, resources, references, variables, locals,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sources, or outputs?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Fundamentals · AWS Edition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2026-09-15T03:50:14Z</dcterms:created>
  <dcterms:modified xsi:type="dcterms:W3CDTF">2026-09-15T03:50:14Z</dcterms:modified>
</cp:coreProperties>
</file>