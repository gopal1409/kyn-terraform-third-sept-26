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2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822960"/>
            <a:ext cx="3108960" cy="3108960"/>
          </a:xfrm>
          <a:prstGeom prst="ellipse">
            <a:avLst/>
          </a:prstGeom>
          <a:solidFill>
            <a:srgbClr val="F05033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48640"/>
            <a:ext cx="2011680" cy="2011680"/>
          </a:xfrm>
          <a:prstGeom prst="ellipse">
            <a:avLst/>
          </a:prstGeom>
          <a:solidFill>
            <a:srgbClr val="2188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463040"/>
            <a:ext cx="1188720" cy="1188720"/>
          </a:xfrm>
          <a:prstGeom prst="ellipse">
            <a:avLst/>
          </a:prstGeom>
          <a:solidFill>
            <a:srgbClr val="F05033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14400"/>
            <a:ext cx="566928" cy="566928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960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 GUIDE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Fundamentals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 •  Init, Add &amp; Commit  •  Branching in Detail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2926080" cy="0"/>
          </a:xfrm>
          <a:prstGeom prst="line">
            <a:avLst/>
          </a:prstGeom>
          <a:noFill/>
          <a:ln w="38100">
            <a:solidFill>
              <a:srgbClr val="F050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663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command-by-command walkthrough of Git's global setup and everyday workflow — with every command explained.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Configuration: Three Levels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settings can be applied at three different scopes. Each level overrides the one before it — local beats global, global beats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6F8FA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6252" y="2468880"/>
            <a:ext cx="585216" cy="585216"/>
          </a:xfrm>
          <a:prstGeom prst="ellipse">
            <a:avLst/>
          </a:prstGeom>
          <a:solidFill>
            <a:srgbClr val="6A737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16252" y="24688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57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every user and every repository on the machine.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754880"/>
            <a:ext cx="278892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8920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20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--system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86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15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/etc/gitconfig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61688" y="214884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6F8FA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29300" y="2468880"/>
            <a:ext cx="585216" cy="585216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29300" y="24688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361688" y="3200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636008" y="3657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the current logged-in user, across all of their repositories.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27448" y="4754880"/>
            <a:ext cx="278892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36008" y="48920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5120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636008" y="5486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5715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~/.gitconfig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74736" y="214884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6F8FA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642348" y="2468880"/>
            <a:ext cx="585216" cy="585216"/>
          </a:xfrm>
          <a:prstGeom prst="ellipse">
            <a:avLst/>
          </a:prstGeom>
          <a:solidFill>
            <a:srgbClr val="2188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42348" y="24688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174736" y="3200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449056" y="3657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only to the single repository you are currently in.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540496" y="4754880"/>
            <a:ext cx="278892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49056" y="48920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449056" y="5120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--local (default)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449056" y="5486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449056" y="5715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&lt;repo&gt;/.git/config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CONFIGURATION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Your Global Git Identity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settings are stored once per user in ~/.gitconfig and are reused by every repository you work in — no need to repeat them per project.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(name &amp; email) is the most important setting: Git stamps it onto every commit you create, permanently.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core.editor controls which text editor opens for commit messages, merges, and rebases.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init.defaultBranch sets the name of the first branch (e.g. “main”) for every new repository you create.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color.ui turns on colored output for status, diff and branch listings in the terminal.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0" y="1554480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199632" y="1650492"/>
            <a:ext cx="51572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your name (used on every commit)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99632" y="1956816"/>
            <a:ext cx="51572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</a:t>
            </a:r>
            <a:pPr indent="0" marL="0">
              <a:buNone/>
            </a:pPr>
            <a:r>
              <a:rPr lang="en-US" sz="13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 </a:t>
            </a:r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 </a:t>
            </a:r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"Gopal"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99632" y="2263140"/>
            <a:ext cx="51572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99632" y="2569464"/>
            <a:ext cx="51572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your email (must match your Git host)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99632" y="2875788"/>
            <a:ext cx="51572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</a:t>
            </a:r>
            <a:pPr indent="0" marL="0">
              <a:buNone/>
            </a:pPr>
            <a:r>
              <a:rPr lang="en-US" sz="13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 </a:t>
            </a:r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user.email </a:t>
            </a:r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"you@example.com"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99632" y="3182112"/>
            <a:ext cx="51572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3488436"/>
            <a:ext cx="51572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the default text editor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3794760"/>
            <a:ext cx="51572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</a:t>
            </a:r>
            <a:pPr indent="0" marL="0">
              <a:buNone/>
            </a:pPr>
            <a:r>
              <a:rPr lang="en-US" sz="13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 </a:t>
            </a:r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core.editor </a:t>
            </a:r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"code --wait"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4101084"/>
            <a:ext cx="51572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4407408"/>
            <a:ext cx="51572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the default branch name for new repos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4713732"/>
            <a:ext cx="51572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</a:t>
            </a:r>
            <a:pPr indent="0" marL="0">
              <a:buNone/>
            </a:pPr>
            <a:r>
              <a:rPr lang="en-US" sz="13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 </a:t>
            </a:r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init.defaultBranch </a:t>
            </a:r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5020056"/>
            <a:ext cx="51572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5326380"/>
            <a:ext cx="51572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Turn on colored terminal output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5632704"/>
            <a:ext cx="51572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</a:t>
            </a:r>
            <a:pPr indent="0" marL="0">
              <a:buNone/>
            </a:pPr>
            <a:r>
              <a:rPr lang="en-US" sz="13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 </a:t>
            </a:r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color.ui </a:t>
            </a:r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CONFIGURATION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Viewing, Editing &amp; Aliasing Global Config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 what's set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2057400"/>
            <a:ext cx="4974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</a:t>
            </a:r>
            <a:pPr indent="0" marL="0">
              <a:buNone/>
            </a:pPr>
            <a:r>
              <a:rPr lang="en-US" sz="12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 </a:t>
            </a:r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--list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show all settings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60320"/>
            <a:ext cx="4974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</a:t>
            </a:r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show one value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63240"/>
            <a:ext cx="4974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</a:t>
            </a:r>
            <a:pPr indent="0" marL="0">
              <a:buNone/>
            </a:pPr>
            <a:r>
              <a:rPr lang="en-US" sz="12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 </a:t>
            </a:r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--edit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open the file directly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shortcuts (aliases)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" y="4617720"/>
            <a:ext cx="4974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</a:t>
            </a:r>
            <a:pPr indent="0" marL="0">
              <a:buNone/>
            </a:pPr>
            <a:r>
              <a:rPr lang="en-US" sz="12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 </a:t>
            </a:r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alias.co </a:t>
            </a:r>
            <a:pPr indent="0" marL="0"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5120640"/>
            <a:ext cx="4974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</a:t>
            </a:r>
            <a:pPr indent="0" marL="0">
              <a:buNone/>
            </a:pPr>
            <a:r>
              <a:rPr lang="en-US" sz="12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 </a:t>
            </a:r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alias.st </a:t>
            </a:r>
            <a:pPr indent="0" marL="0"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5623560"/>
            <a:ext cx="4974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</a:t>
            </a:r>
            <a:pPr indent="0" marL="0">
              <a:buNone/>
            </a:pPr>
            <a:r>
              <a:rPr lang="en-US" sz="12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 </a:t>
            </a:r>
            <a:pPr indent="0" marL="0"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alias.br "branch -v"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Resulting ~/.gitconfig file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5212080" cy="4526280"/>
          </a:xfrm>
          <a:prstGeom prst="roundRect">
            <a:avLst>
              <a:gd name="adj" fmla="val 1616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656832" y="1947672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[user]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56832" y="2253996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</a:t>
            </a:r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Gopal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56832" y="2560320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= </a:t>
            </a:r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you@example.com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656832" y="2866644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656832" y="3172968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[core]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3479292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editor = </a:t>
            </a:r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--wait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656832" y="3785616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56832" y="4091940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[init]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656832" y="4398264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defaultBranch = </a:t>
            </a:r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656832" y="4704588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656832" y="5010912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[alias]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656832" y="5317236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 = </a:t>
            </a:r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656832" y="5623560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 = </a:t>
            </a:r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656832" y="5929884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 = </a:t>
            </a:r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-v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REPOSITORY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init — Create a New Repository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6304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23B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current folder into a Git repository by creating a hidden .git subdirectory that stores all history, configuration and object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18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3464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&lt;folder&gt;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new folder first (if needed), then initializes it as a repository — useful for starting a fresh project in one step.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6A737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20624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86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--bare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repository with no working directory — used on servers as a shared remote that developers push to and pull from.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.git actually contains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65392" y="20574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.git/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65392" y="25146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HEAD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pointer to current branch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29718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# this repo's local settings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34290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objects/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all commits, files &amp; trees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38862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refs/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43434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heads/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local branches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48006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remotes/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remote-tracking branches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52578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index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the staging area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THREE-STAGE WORKFLOW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add — Stage Your Changes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moves changes from your working directory into the staging area (the index) — a preview of exactly what the next commit will contain.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975104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</a:t>
            </a:r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file.txt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6771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stage one specific file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6032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85292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</a:t>
            </a:r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 tests/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14553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stage everything in those folders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438144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73075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</a:t>
            </a:r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02336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stage everything in current dir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31596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60857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</a:t>
            </a:r>
            <a:pPr indent="0" marL="0">
              <a:buNone/>
            </a:pPr>
            <a:r>
              <a:rPr lang="en-US" sz="13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901184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stage the whole repo, incl. deletes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519379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48640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</a:t>
            </a:r>
            <a:pPr indent="0" marL="0">
              <a:buNone/>
            </a:pPr>
            <a:r>
              <a:rPr lang="en-US" sz="13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7790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interactively stage parts of a file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9659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what's staged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55080" y="233172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611112" y="251460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see staged / unstaged files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11112" y="301752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 </a:t>
            </a:r>
            <a:pPr indent="0" marL="0">
              <a:buNone/>
            </a:pPr>
            <a:r>
              <a:rPr lang="en-US" sz="12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--staged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preview staged changes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39319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stages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55080" y="443484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9050">
            <a:solidFill>
              <a:srgbClr val="6A737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28232" y="4572000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28232" y="521208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 edit on disk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4892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59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321040" y="443484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9050">
            <a:solidFill>
              <a:srgbClr val="F050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94192" y="4572000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521208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marked with git add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921240" y="4892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59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0287000" y="443484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9050">
            <a:solidFill>
              <a:srgbClr val="2188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360152" y="4572000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360152" y="521208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permanently by git commit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THREE-STAGE WORKFLOW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commit — Record a Snapshot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 takes everything in the staging area and permanently saves it to the repository's history, along with a message describing the change.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975104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</a:t>
            </a:r>
            <a:pPr indent="0" marL="0">
              <a:buNone/>
            </a:pPr>
            <a:r>
              <a:rPr lang="en-US" sz="13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 </a:t>
            </a:r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"Fix login bug"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6771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commit staged changes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6032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85292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</a:t>
            </a:r>
            <a:pPr indent="0" marL="0">
              <a:buNone/>
            </a:pPr>
            <a:r>
              <a:rPr lang="en-US" sz="13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-am </a:t>
            </a:r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 styles"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14553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stage tracked files, then commit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438144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73075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</a:t>
            </a:r>
            <a:pPr indent="0" marL="0">
              <a:buNone/>
            </a:pPr>
            <a:r>
              <a:rPr lang="en-US" sz="13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--amend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02336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edit the most recent commit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31596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60857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</a:t>
            </a:r>
            <a:pPr indent="0" marL="0">
              <a:buNone/>
            </a:pPr>
            <a:r>
              <a:rPr lang="en-US" sz="13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--amend </a:t>
            </a:r>
            <a:pPr indent="0" marL="0">
              <a:buNone/>
            </a:pPr>
            <a:r>
              <a:rPr lang="en-US" sz="13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--no-edit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901184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add staged files, keep message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519379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48640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</a:t>
            </a:r>
            <a:pPr indent="0" marL="0">
              <a:buNone/>
            </a:pPr>
            <a:r>
              <a:rPr lang="en-US" sz="13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--oneline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7790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view commit history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9659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commit habits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377440"/>
            <a:ext cx="5257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small, logical units of work — one fix or feature per commit.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messages in the imperative mood: “Add” not “Added”.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summary line under ~50 characters; add details in the body if needed.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unfinished or broken code to a shared branch.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--amend only for commits you have not yet pushed/shared.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Git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24292E"/>
          </a:solidFill>
          <a:ln w="19050">
            <a:solidFill>
              <a:srgbClr val="F05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3060" y="2560320"/>
            <a:ext cx="548640" cy="5486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230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repository once, at the start of a project.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35204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83280" y="22860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24292E"/>
          </a:solidFill>
          <a:ln w="19050">
            <a:solidFill>
              <a:srgbClr val="218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6260" y="2560320"/>
            <a:ext cx="548640" cy="548640"/>
          </a:xfrm>
          <a:prstGeom prst="ellipse">
            <a:avLst/>
          </a:prstGeom>
          <a:solidFill>
            <a:srgbClr val="218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662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337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files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9776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normally — create, modify, delete files.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35204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26480" y="22860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24292E"/>
          </a:solidFill>
          <a:ln w="19050">
            <a:solidFill>
              <a:srgbClr val="F050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09460" y="2560320"/>
            <a:ext cx="548640" cy="5486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094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337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9776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the changes you want to save.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35204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869680" y="22860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24292E"/>
          </a:solidFill>
          <a:ln w="19050">
            <a:solidFill>
              <a:srgbClr val="2188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52660" y="2560320"/>
            <a:ext cx="548640" cy="548640"/>
          </a:xfrm>
          <a:prstGeom prst="ellipse">
            <a:avLst/>
          </a:prstGeom>
          <a:solidFill>
            <a:srgbClr val="2188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526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006840" y="3337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39776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permanent snapshot with a message.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add → commit loop repeats continuously throughout the life of a project — git init runs only once.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Branch?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simply a movable, lightweight pointer to a commit — not a copy of the project.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branch (often “main”) is created automatically by git init.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is a special pointer that tracks whichever branch you currently have checked out.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let you develop features, fix bugs, or experiment in isolation without affecting other work.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branch is nearly instant — it only writes a new 40-character reference, not a full copy of your files.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52160" y="155448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F6F8FA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4709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3383280"/>
            <a:ext cx="4297680" cy="0"/>
          </a:xfrm>
          <a:prstGeom prst="line">
            <a:avLst/>
          </a:prstGeom>
          <a:noFill/>
          <a:ln w="31750">
            <a:solidFill>
              <a:srgbClr val="218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3383280"/>
            <a:ext cx="0" cy="1371600"/>
          </a:xfrm>
          <a:prstGeom prst="line">
            <a:avLst/>
          </a:prstGeom>
          <a:noFill/>
          <a:ln w="19050">
            <a:solidFill>
              <a:srgbClr val="959DA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183880" y="4754880"/>
            <a:ext cx="2743200" cy="0"/>
          </a:xfrm>
          <a:prstGeom prst="line">
            <a:avLst/>
          </a:prstGeom>
          <a:noFill/>
          <a:ln w="31750">
            <a:solidFill>
              <a:srgbClr val="F050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57416" y="3282696"/>
            <a:ext cx="201168" cy="201168"/>
          </a:xfrm>
          <a:prstGeom prst="ellipse">
            <a:avLst/>
          </a:prstGeom>
          <a:solidFill>
            <a:srgbClr val="2188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83296" y="3282696"/>
            <a:ext cx="201168" cy="201168"/>
          </a:xfrm>
          <a:prstGeom prst="ellipse">
            <a:avLst/>
          </a:prstGeom>
          <a:solidFill>
            <a:srgbClr val="2188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32136" y="3282696"/>
            <a:ext cx="201168" cy="201168"/>
          </a:xfrm>
          <a:prstGeom prst="ellipse">
            <a:avLst/>
          </a:prstGeom>
          <a:solidFill>
            <a:srgbClr val="2188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55096" y="3282696"/>
            <a:ext cx="201168" cy="201168"/>
          </a:xfrm>
          <a:prstGeom prst="ellipse">
            <a:avLst/>
          </a:prstGeom>
          <a:solidFill>
            <a:srgbClr val="2188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26296" y="4654296"/>
            <a:ext cx="201168" cy="201168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4654296"/>
            <a:ext cx="201168" cy="201168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27080" y="443484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F050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27080" y="44348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5486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commit. “feature” branched off main at the dashed line and has since diverged — HEAD is currently on feature.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Commands: Create, Switch &amp; Delete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&amp; create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943100"/>
            <a:ext cx="5065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list local branches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446020"/>
            <a:ext cx="5065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</a:t>
            </a:r>
            <a:pPr indent="0" marL="0">
              <a:buNone/>
            </a:pPr>
            <a:r>
              <a:rPr lang="en-US" sz="12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list ALL, incl. remote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948940"/>
            <a:ext cx="5065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</a:t>
            </a:r>
            <a:pPr indent="0" marL="0">
              <a:buNone/>
            </a:pPr>
            <a:r>
              <a:rPr lang="en-US" sz="12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feature-x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create new branch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between branches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" y="4265676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</a:t>
            </a:r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feature-x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modern way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704588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 </a:t>
            </a:r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feature-x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classic way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5143500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</a:t>
            </a:r>
            <a:pPr indent="0" marL="0">
              <a:buNone/>
            </a:pPr>
            <a:r>
              <a:rPr lang="en-US" sz="12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 </a:t>
            </a:r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feature-y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create + switch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5582412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 </a:t>
            </a:r>
            <a:pPr indent="0" marL="0">
              <a:buNone/>
            </a:pPr>
            <a:r>
              <a:rPr lang="en-US" sz="12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 </a:t>
            </a:r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feature-y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create + switch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4173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&amp; delete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55080" y="1783080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611112" y="1915668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</a:t>
            </a:r>
            <a:pPr indent="0" marL="0">
              <a:buNone/>
            </a:pPr>
            <a:r>
              <a:rPr lang="en-US" sz="12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 </a:t>
            </a:r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new-name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2208276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rename current branch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11112" y="2500884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2793492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</a:t>
            </a:r>
            <a:pPr indent="0" marL="0">
              <a:buNone/>
            </a:pPr>
            <a:r>
              <a:rPr lang="en-US" sz="12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</a:t>
            </a:r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feature-x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11112" y="3086100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delete if already merged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11112" y="3378708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11112" y="3671316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</a:t>
            </a:r>
            <a:pPr indent="0" marL="0">
              <a:buNone/>
            </a:pPr>
            <a:r>
              <a:rPr lang="en-US" sz="12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</a:t>
            </a:r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feature-x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611112" y="3963924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force-delete, merged or not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457200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4690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switch vs. checkout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01091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switch (Git 2.23+) was introduced to do one job clearly. git checkout still works and is more common in older scripts and tutorials, but switch is recommended for changing branches today.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Branches &amp; Resolving Conflicts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commands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577840" cy="2606040"/>
          </a:xfrm>
          <a:prstGeom prst="roundRect">
            <a:avLst>
              <a:gd name="adj" fmla="val 2807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80594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</a:t>
            </a:r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1. go to target branch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1717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</a:t>
            </a:r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feature-x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2. bring changes in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3746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90322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</a:t>
            </a:r>
            <a:pPr indent="0" marL="0">
              <a:buNone/>
            </a:pPr>
            <a:r>
              <a:rPr lang="en-US" sz="12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--no-ff </a:t>
            </a:r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feature-x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26898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always create a merge commit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63474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0005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</a:t>
            </a:r>
            <a:pPr indent="0" marL="0">
              <a:buNone/>
            </a:pPr>
            <a:r>
              <a:rPr lang="en-US" sz="12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--graph --oneline --all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Resolving a conflict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5577840" cy="1600200"/>
          </a:xfrm>
          <a:prstGeom prst="roundRect">
            <a:avLst>
              <a:gd name="adj" fmla="val 4571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4672" y="501548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a conflicting merge, edit the files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53995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mark them resolved: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578358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</a:t>
            </a:r>
            <a:pPr indent="0" marL="0">
              <a:buNone/>
            </a:pPr>
            <a:r>
              <a:rPr lang="en-US" sz="120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&lt;resolved-file&gt;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6167628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finalize the merge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14173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Fast-forward vs. three-way merge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783080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Fast-forward: main hasn't moved since the branch started — Git just slides the pointer forward, no new commit.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merge: both branches have new commits — Git creates a merge commit joining both histories.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41605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B1F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4297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marker anatomy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663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9560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current branch's version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52486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55412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incoming branch's version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8338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feature-x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Cheat Sheet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0440" cy="4572000"/>
          </a:xfrm>
          <a:prstGeom prst="roundRect">
            <a:avLst>
              <a:gd name="adj" fmla="val 2338"/>
            </a:avLst>
          </a:prstGeom>
          <a:solidFill>
            <a:srgbClr val="2429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00200"/>
            <a:ext cx="3520440" cy="548640"/>
          </a:xfrm>
          <a:prstGeom prst="rect">
            <a:avLst/>
          </a:prstGeom>
          <a:solidFill>
            <a:srgbClr val="3A3F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Config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614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name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291840"/>
            <a:ext cx="3063240" cy="0"/>
          </a:xfrm>
          <a:prstGeom prst="line">
            <a:avLst/>
          </a:prstGeom>
          <a:noFill/>
          <a:ln w="9525">
            <a:solidFill>
              <a:srgbClr val="3A3F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611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9959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email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4526280"/>
            <a:ext cx="3063240" cy="0"/>
          </a:xfrm>
          <a:prstGeom prst="line">
            <a:avLst/>
          </a:prstGeom>
          <a:noFill/>
          <a:ln w="9525">
            <a:solidFill>
              <a:srgbClr val="3A3F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--list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2303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settings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61688" y="1600200"/>
            <a:ext cx="3520440" cy="4572000"/>
          </a:xfrm>
          <a:prstGeom prst="roundRect">
            <a:avLst>
              <a:gd name="adj" fmla="val 2338"/>
            </a:avLst>
          </a:prstGeom>
          <a:solidFill>
            <a:srgbClr val="24292E"/>
          </a:solidFill>
          <a:ln/>
        </p:spPr>
      </p:sp>
      <p:sp>
        <p:nvSpPr>
          <p:cNvPr id="17" name="Shape 15"/>
          <p:cNvSpPr/>
          <p:nvPr/>
        </p:nvSpPr>
        <p:spPr>
          <a:xfrm>
            <a:off x="4361688" y="1600200"/>
            <a:ext cx="3520440" cy="548640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61688" y="1600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 / Add / Commit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90288" y="27614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repository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90288" y="3291840"/>
            <a:ext cx="3063240" cy="0"/>
          </a:xfrm>
          <a:prstGeom prst="line">
            <a:avLst/>
          </a:prstGeom>
          <a:noFill/>
          <a:ln w="9525">
            <a:solidFill>
              <a:srgbClr val="3A3F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0288" y="3611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39959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 changes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90288" y="4526280"/>
            <a:ext cx="3063240" cy="0"/>
          </a:xfrm>
          <a:prstGeom prst="line">
            <a:avLst/>
          </a:prstGeom>
          <a:noFill/>
          <a:ln w="9525">
            <a:solidFill>
              <a:srgbClr val="3A3F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90288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90288" y="52303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74736" y="1600200"/>
            <a:ext cx="3520440" cy="4572000"/>
          </a:xfrm>
          <a:prstGeom prst="roundRect">
            <a:avLst>
              <a:gd name="adj" fmla="val 2338"/>
            </a:avLst>
          </a:prstGeom>
          <a:solidFill>
            <a:srgbClr val="24292E"/>
          </a:solidFill>
          <a:ln/>
        </p:spPr>
      </p:sp>
      <p:sp>
        <p:nvSpPr>
          <p:cNvPr id="28" name="Shape 26"/>
          <p:cNvSpPr/>
          <p:nvPr/>
        </p:nvSpPr>
        <p:spPr>
          <a:xfrm>
            <a:off x="8174736" y="1600200"/>
            <a:ext cx="3520440" cy="548640"/>
          </a:xfrm>
          <a:prstGeom prst="rect">
            <a:avLst/>
          </a:prstGeom>
          <a:solidFill>
            <a:srgbClr val="2188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74736" y="1600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403336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403336" y="27614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branches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403336" y="3291840"/>
            <a:ext cx="3063240" cy="0"/>
          </a:xfrm>
          <a:prstGeom prst="line">
            <a:avLst/>
          </a:prstGeom>
          <a:noFill/>
          <a:ln w="9525">
            <a:solidFill>
              <a:srgbClr val="3A3F4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03336" y="3611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&lt;name&gt;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403336" y="39959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switch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403336" y="4526280"/>
            <a:ext cx="3063240" cy="0"/>
          </a:xfrm>
          <a:prstGeom prst="line">
            <a:avLst/>
          </a:prstGeom>
          <a:noFill/>
          <a:ln w="9525">
            <a:solidFill>
              <a:srgbClr val="3A3F4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03336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&lt;name&gt;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403336" y="52303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current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commands in a scratch folder — muscle memory beats memorizing flags.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2026-09-17T05:24:54Z</dcterms:created>
  <dcterms:modified xsi:type="dcterms:W3CDTF">2026-09-17T05:24:54Z</dcterms:modified>
</cp:coreProperties>
</file>